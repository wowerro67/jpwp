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1" r:id="rId1"/>
  </p:sldMasterIdLst>
  <p:notesMasterIdLst>
    <p:notesMasterId r:id="rId32"/>
  </p:notesMasterIdLst>
  <p:sldIdLst>
    <p:sldId id="256" r:id="rId2"/>
    <p:sldId id="258" r:id="rId3"/>
    <p:sldId id="268" r:id="rId4"/>
    <p:sldId id="269" r:id="rId5"/>
    <p:sldId id="259" r:id="rId6"/>
    <p:sldId id="271" r:id="rId7"/>
    <p:sldId id="260" r:id="rId8"/>
    <p:sldId id="289" r:id="rId9"/>
    <p:sldId id="291" r:id="rId10"/>
    <p:sldId id="278" r:id="rId11"/>
    <p:sldId id="261" r:id="rId12"/>
    <p:sldId id="281" r:id="rId13"/>
    <p:sldId id="279" r:id="rId14"/>
    <p:sldId id="280" r:id="rId15"/>
    <p:sldId id="262" r:id="rId16"/>
    <p:sldId id="284" r:id="rId17"/>
    <p:sldId id="285" r:id="rId18"/>
    <p:sldId id="275" r:id="rId19"/>
    <p:sldId id="282" r:id="rId20"/>
    <p:sldId id="283" r:id="rId21"/>
    <p:sldId id="287" r:id="rId22"/>
    <p:sldId id="263" r:id="rId23"/>
    <p:sldId id="276" r:id="rId24"/>
    <p:sldId id="286" r:id="rId25"/>
    <p:sldId id="277" r:id="rId26"/>
    <p:sldId id="288" r:id="rId27"/>
    <p:sldId id="264" r:id="rId28"/>
    <p:sldId id="267" r:id="rId29"/>
    <p:sldId id="265" r:id="rId30"/>
    <p:sldId id="266" r:id="rId31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BFC523-390B-464F-952D-80A089B0F3D0}" v="26" dt="2026-03-16T23:50:46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/>
    <p:restoredTop sz="94637"/>
  </p:normalViewPr>
  <p:slideViewPr>
    <p:cSldViewPr snapToGrid="0">
      <p:cViewPr varScale="1">
        <p:scale>
          <a:sx n="76" d="100"/>
          <a:sy n="76" d="100"/>
        </p:scale>
        <p:origin x="22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44AE8-603C-4AD4-B27C-D9FC44D390DA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854338A-0C0F-470D-A6D6-9BA3C3212C39}">
      <dgm:prSet/>
      <dgm:spPr/>
      <dgm:t>
        <a:bodyPr/>
        <a:lstStyle/>
        <a:p>
          <a:r>
            <a:rPr lang="pl-PL" b="1" i="0" baseline="0"/>
            <a:t>Pure Functions (Czyste funkcje):</a:t>
          </a:r>
          <a:r>
            <a:rPr lang="pl-PL" b="0" i="0" baseline="0"/>
            <a:t> Zawsze zwracają ten sam wynik dla tych samych argumentów. Zero ukrytych zależności.</a:t>
          </a:r>
          <a:endParaRPr lang="en-US"/>
        </a:p>
      </dgm:t>
    </dgm:pt>
    <dgm:pt modelId="{292C03F3-304A-40B0-9F30-5F918EA4EBF4}" type="parTrans" cxnId="{7260C4C3-F4E3-4B49-B5B5-C4B185A12C08}">
      <dgm:prSet/>
      <dgm:spPr/>
      <dgm:t>
        <a:bodyPr/>
        <a:lstStyle/>
        <a:p>
          <a:endParaRPr lang="en-US"/>
        </a:p>
      </dgm:t>
    </dgm:pt>
    <dgm:pt modelId="{16041C48-9B76-43F7-87EB-00CB31275C33}" type="sibTrans" cxnId="{7260C4C3-F4E3-4B49-B5B5-C4B185A12C08}">
      <dgm:prSet/>
      <dgm:spPr/>
      <dgm:t>
        <a:bodyPr/>
        <a:lstStyle/>
        <a:p>
          <a:endParaRPr lang="en-US"/>
        </a:p>
      </dgm:t>
    </dgm:pt>
    <dgm:pt modelId="{DCF2C03B-8701-4CC9-8F21-FDBC2F6739FF}">
      <dgm:prSet/>
      <dgm:spPr/>
      <dgm:t>
        <a:bodyPr/>
        <a:lstStyle/>
        <a:p>
          <a:r>
            <a:rPr lang="pl-PL" b="1" i="0" baseline="0"/>
            <a:t>Brak efektów ubocznych:</a:t>
          </a:r>
          <a:r>
            <a:rPr lang="pl-PL" b="0" i="0" baseline="0"/>
            <a:t> Nie modyfikujemy zmiennych globalnych ani wejścia.</a:t>
          </a:r>
          <a:endParaRPr lang="en-US"/>
        </a:p>
      </dgm:t>
    </dgm:pt>
    <dgm:pt modelId="{2986A401-26F9-4789-9E80-6EE77C189F87}" type="parTrans" cxnId="{9FAD38EE-BA43-4901-8EDE-0BAFEEC02A5A}">
      <dgm:prSet/>
      <dgm:spPr/>
      <dgm:t>
        <a:bodyPr/>
        <a:lstStyle/>
        <a:p>
          <a:endParaRPr lang="en-US"/>
        </a:p>
      </dgm:t>
    </dgm:pt>
    <dgm:pt modelId="{4862A18D-31DE-49BE-9CD3-757992E671A7}" type="sibTrans" cxnId="{9FAD38EE-BA43-4901-8EDE-0BAFEEC02A5A}">
      <dgm:prSet/>
      <dgm:spPr/>
      <dgm:t>
        <a:bodyPr/>
        <a:lstStyle/>
        <a:p>
          <a:endParaRPr lang="en-US"/>
        </a:p>
      </dgm:t>
    </dgm:pt>
    <dgm:pt modelId="{A3D17C78-C91A-4B16-91BC-8F77D72D2034}">
      <dgm:prSet/>
      <dgm:spPr/>
      <dgm:t>
        <a:bodyPr/>
        <a:lstStyle/>
        <a:p>
          <a:r>
            <a:rPr lang="pl-PL" b="1" i="0" baseline="0"/>
            <a:t>Immutability (Niemutowalność):</a:t>
          </a:r>
          <a:r>
            <a:rPr lang="pl-PL" b="0" i="0" baseline="0"/>
            <a:t> Pracujemy na kopiach! Zamiast zmieniać istniejącą listę append(), tworzymy nową.</a:t>
          </a:r>
          <a:endParaRPr lang="en-US"/>
        </a:p>
      </dgm:t>
    </dgm:pt>
    <dgm:pt modelId="{30BF04DC-5926-42B9-B66E-77BE090B3505}" type="parTrans" cxnId="{BDED32E0-A8CD-4886-B6FE-8FD6CEC0EF7E}">
      <dgm:prSet/>
      <dgm:spPr/>
      <dgm:t>
        <a:bodyPr/>
        <a:lstStyle/>
        <a:p>
          <a:endParaRPr lang="en-US"/>
        </a:p>
      </dgm:t>
    </dgm:pt>
    <dgm:pt modelId="{53BD4FDA-3B44-4E8B-830A-5E11AB495CA5}" type="sibTrans" cxnId="{BDED32E0-A8CD-4886-B6FE-8FD6CEC0EF7E}">
      <dgm:prSet/>
      <dgm:spPr/>
      <dgm:t>
        <a:bodyPr/>
        <a:lstStyle/>
        <a:p>
          <a:endParaRPr lang="en-US"/>
        </a:p>
      </dgm:t>
    </dgm:pt>
    <dgm:pt modelId="{99A4B26D-9C45-1C4F-8AD6-E5222831926F}" type="pres">
      <dgm:prSet presAssocID="{C2F44AE8-603C-4AD4-B27C-D9FC44D390DA}" presName="outerComposite" presStyleCnt="0">
        <dgm:presLayoutVars>
          <dgm:chMax val="5"/>
          <dgm:dir/>
          <dgm:resizeHandles val="exact"/>
        </dgm:presLayoutVars>
      </dgm:prSet>
      <dgm:spPr/>
    </dgm:pt>
    <dgm:pt modelId="{8A3A6A55-24B8-AE45-830F-266408AB6554}" type="pres">
      <dgm:prSet presAssocID="{C2F44AE8-603C-4AD4-B27C-D9FC44D390DA}" presName="dummyMaxCanvas" presStyleCnt="0">
        <dgm:presLayoutVars/>
      </dgm:prSet>
      <dgm:spPr/>
    </dgm:pt>
    <dgm:pt modelId="{3A2CA74B-C4A8-A347-91DD-4F36AB8B28E0}" type="pres">
      <dgm:prSet presAssocID="{C2F44AE8-603C-4AD4-B27C-D9FC44D390DA}" presName="ThreeNodes_1" presStyleLbl="node1" presStyleIdx="0" presStyleCnt="3">
        <dgm:presLayoutVars>
          <dgm:bulletEnabled val="1"/>
        </dgm:presLayoutVars>
      </dgm:prSet>
      <dgm:spPr/>
    </dgm:pt>
    <dgm:pt modelId="{03001FD5-CCAD-1844-A16C-C81582DCFA24}" type="pres">
      <dgm:prSet presAssocID="{C2F44AE8-603C-4AD4-B27C-D9FC44D390DA}" presName="ThreeNodes_2" presStyleLbl="node1" presStyleIdx="1" presStyleCnt="3">
        <dgm:presLayoutVars>
          <dgm:bulletEnabled val="1"/>
        </dgm:presLayoutVars>
      </dgm:prSet>
      <dgm:spPr/>
    </dgm:pt>
    <dgm:pt modelId="{603F6B23-2C5A-E141-81E3-1AF5D2B65DB5}" type="pres">
      <dgm:prSet presAssocID="{C2F44AE8-603C-4AD4-B27C-D9FC44D390DA}" presName="ThreeNodes_3" presStyleLbl="node1" presStyleIdx="2" presStyleCnt="3">
        <dgm:presLayoutVars>
          <dgm:bulletEnabled val="1"/>
        </dgm:presLayoutVars>
      </dgm:prSet>
      <dgm:spPr/>
    </dgm:pt>
    <dgm:pt modelId="{16A997BB-7019-A541-819C-F7563AC2B3A8}" type="pres">
      <dgm:prSet presAssocID="{C2F44AE8-603C-4AD4-B27C-D9FC44D390DA}" presName="ThreeConn_1-2" presStyleLbl="fgAccFollowNode1" presStyleIdx="0" presStyleCnt="2">
        <dgm:presLayoutVars>
          <dgm:bulletEnabled val="1"/>
        </dgm:presLayoutVars>
      </dgm:prSet>
      <dgm:spPr/>
    </dgm:pt>
    <dgm:pt modelId="{3A0F467D-104C-9744-ABD5-48A2EFA5F448}" type="pres">
      <dgm:prSet presAssocID="{C2F44AE8-603C-4AD4-B27C-D9FC44D390DA}" presName="ThreeConn_2-3" presStyleLbl="fgAccFollowNode1" presStyleIdx="1" presStyleCnt="2">
        <dgm:presLayoutVars>
          <dgm:bulletEnabled val="1"/>
        </dgm:presLayoutVars>
      </dgm:prSet>
      <dgm:spPr/>
    </dgm:pt>
    <dgm:pt modelId="{03797590-3045-8742-A6E7-C8AA5AE131ED}" type="pres">
      <dgm:prSet presAssocID="{C2F44AE8-603C-4AD4-B27C-D9FC44D390DA}" presName="ThreeNodes_1_text" presStyleLbl="node1" presStyleIdx="2" presStyleCnt="3">
        <dgm:presLayoutVars>
          <dgm:bulletEnabled val="1"/>
        </dgm:presLayoutVars>
      </dgm:prSet>
      <dgm:spPr/>
    </dgm:pt>
    <dgm:pt modelId="{3C5469C9-32C2-AA45-A864-03A37E4EDB5D}" type="pres">
      <dgm:prSet presAssocID="{C2F44AE8-603C-4AD4-B27C-D9FC44D390DA}" presName="ThreeNodes_2_text" presStyleLbl="node1" presStyleIdx="2" presStyleCnt="3">
        <dgm:presLayoutVars>
          <dgm:bulletEnabled val="1"/>
        </dgm:presLayoutVars>
      </dgm:prSet>
      <dgm:spPr/>
    </dgm:pt>
    <dgm:pt modelId="{F795994D-7A30-1449-AA43-BE56722EC4A8}" type="pres">
      <dgm:prSet presAssocID="{C2F44AE8-603C-4AD4-B27C-D9FC44D390D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5609B0D-AB10-4148-973B-A58E27DF2F62}" type="presOf" srcId="{A3D17C78-C91A-4B16-91BC-8F77D72D2034}" destId="{F795994D-7A30-1449-AA43-BE56722EC4A8}" srcOrd="1" destOrd="0" presId="urn:microsoft.com/office/officeart/2005/8/layout/vProcess5"/>
    <dgm:cxn modelId="{4D0F4A1A-6CA6-2F48-807E-4FB279A48831}" type="presOf" srcId="{DCF2C03B-8701-4CC9-8F21-FDBC2F6739FF}" destId="{03001FD5-CCAD-1844-A16C-C81582DCFA24}" srcOrd="0" destOrd="0" presId="urn:microsoft.com/office/officeart/2005/8/layout/vProcess5"/>
    <dgm:cxn modelId="{CD2A9A1B-B1FE-9342-BBA5-0627A2C3B666}" type="presOf" srcId="{A854338A-0C0F-470D-A6D6-9BA3C3212C39}" destId="{3A2CA74B-C4A8-A347-91DD-4F36AB8B28E0}" srcOrd="0" destOrd="0" presId="urn:microsoft.com/office/officeart/2005/8/layout/vProcess5"/>
    <dgm:cxn modelId="{2DA32E52-306D-CE42-B842-AA2263F65398}" type="presOf" srcId="{4862A18D-31DE-49BE-9CD3-757992E671A7}" destId="{3A0F467D-104C-9744-ABD5-48A2EFA5F448}" srcOrd="0" destOrd="0" presId="urn:microsoft.com/office/officeart/2005/8/layout/vProcess5"/>
    <dgm:cxn modelId="{BDF9E27C-44F6-2B44-9828-91B7F79451E6}" type="presOf" srcId="{A854338A-0C0F-470D-A6D6-9BA3C3212C39}" destId="{03797590-3045-8742-A6E7-C8AA5AE131ED}" srcOrd="1" destOrd="0" presId="urn:microsoft.com/office/officeart/2005/8/layout/vProcess5"/>
    <dgm:cxn modelId="{76FE2D88-1219-0147-81E7-25439D63EDE3}" type="presOf" srcId="{A3D17C78-C91A-4B16-91BC-8F77D72D2034}" destId="{603F6B23-2C5A-E141-81E3-1AF5D2B65DB5}" srcOrd="0" destOrd="0" presId="urn:microsoft.com/office/officeart/2005/8/layout/vProcess5"/>
    <dgm:cxn modelId="{A37D169F-3F17-4E4A-BD6D-E8F83AE0FAD6}" type="presOf" srcId="{16041C48-9B76-43F7-87EB-00CB31275C33}" destId="{16A997BB-7019-A541-819C-F7563AC2B3A8}" srcOrd="0" destOrd="0" presId="urn:microsoft.com/office/officeart/2005/8/layout/vProcess5"/>
    <dgm:cxn modelId="{A35658BF-B8B4-9847-9C21-50FEB841F2E0}" type="presOf" srcId="{C2F44AE8-603C-4AD4-B27C-D9FC44D390DA}" destId="{99A4B26D-9C45-1C4F-8AD6-E5222831926F}" srcOrd="0" destOrd="0" presId="urn:microsoft.com/office/officeart/2005/8/layout/vProcess5"/>
    <dgm:cxn modelId="{7260C4C3-F4E3-4B49-B5B5-C4B185A12C08}" srcId="{C2F44AE8-603C-4AD4-B27C-D9FC44D390DA}" destId="{A854338A-0C0F-470D-A6D6-9BA3C3212C39}" srcOrd="0" destOrd="0" parTransId="{292C03F3-304A-40B0-9F30-5F918EA4EBF4}" sibTransId="{16041C48-9B76-43F7-87EB-00CB31275C33}"/>
    <dgm:cxn modelId="{D79A93D8-9CE4-0147-8075-5BB297E014C1}" type="presOf" srcId="{DCF2C03B-8701-4CC9-8F21-FDBC2F6739FF}" destId="{3C5469C9-32C2-AA45-A864-03A37E4EDB5D}" srcOrd="1" destOrd="0" presId="urn:microsoft.com/office/officeart/2005/8/layout/vProcess5"/>
    <dgm:cxn modelId="{BDED32E0-A8CD-4886-B6FE-8FD6CEC0EF7E}" srcId="{C2F44AE8-603C-4AD4-B27C-D9FC44D390DA}" destId="{A3D17C78-C91A-4B16-91BC-8F77D72D2034}" srcOrd="2" destOrd="0" parTransId="{30BF04DC-5926-42B9-B66E-77BE090B3505}" sibTransId="{53BD4FDA-3B44-4E8B-830A-5E11AB495CA5}"/>
    <dgm:cxn modelId="{9FAD38EE-BA43-4901-8EDE-0BAFEEC02A5A}" srcId="{C2F44AE8-603C-4AD4-B27C-D9FC44D390DA}" destId="{DCF2C03B-8701-4CC9-8F21-FDBC2F6739FF}" srcOrd="1" destOrd="0" parTransId="{2986A401-26F9-4789-9E80-6EE77C189F87}" sibTransId="{4862A18D-31DE-49BE-9CD3-757992E671A7}"/>
    <dgm:cxn modelId="{A7526FC1-8BC6-EF49-A626-A091D27101DB}" type="presParOf" srcId="{99A4B26D-9C45-1C4F-8AD6-E5222831926F}" destId="{8A3A6A55-24B8-AE45-830F-266408AB6554}" srcOrd="0" destOrd="0" presId="urn:microsoft.com/office/officeart/2005/8/layout/vProcess5"/>
    <dgm:cxn modelId="{8B296E1E-3486-474A-9137-7934B81DA163}" type="presParOf" srcId="{99A4B26D-9C45-1C4F-8AD6-E5222831926F}" destId="{3A2CA74B-C4A8-A347-91DD-4F36AB8B28E0}" srcOrd="1" destOrd="0" presId="urn:microsoft.com/office/officeart/2005/8/layout/vProcess5"/>
    <dgm:cxn modelId="{700319B6-9EDB-CC44-948D-8639E4336F59}" type="presParOf" srcId="{99A4B26D-9C45-1C4F-8AD6-E5222831926F}" destId="{03001FD5-CCAD-1844-A16C-C81582DCFA24}" srcOrd="2" destOrd="0" presId="urn:microsoft.com/office/officeart/2005/8/layout/vProcess5"/>
    <dgm:cxn modelId="{7716C16E-5C4E-1A4E-8EB5-621E3C480544}" type="presParOf" srcId="{99A4B26D-9C45-1C4F-8AD6-E5222831926F}" destId="{603F6B23-2C5A-E141-81E3-1AF5D2B65DB5}" srcOrd="3" destOrd="0" presId="urn:microsoft.com/office/officeart/2005/8/layout/vProcess5"/>
    <dgm:cxn modelId="{7480C5FC-3984-DD42-A336-AA6D5EF200ED}" type="presParOf" srcId="{99A4B26D-9C45-1C4F-8AD6-E5222831926F}" destId="{16A997BB-7019-A541-819C-F7563AC2B3A8}" srcOrd="4" destOrd="0" presId="urn:microsoft.com/office/officeart/2005/8/layout/vProcess5"/>
    <dgm:cxn modelId="{F8CEFFD5-D0D7-594C-8A67-53771455ED90}" type="presParOf" srcId="{99A4B26D-9C45-1C4F-8AD6-E5222831926F}" destId="{3A0F467D-104C-9744-ABD5-48A2EFA5F448}" srcOrd="5" destOrd="0" presId="urn:microsoft.com/office/officeart/2005/8/layout/vProcess5"/>
    <dgm:cxn modelId="{FE2373B2-F388-4540-90D4-FA624A85722E}" type="presParOf" srcId="{99A4B26D-9C45-1C4F-8AD6-E5222831926F}" destId="{03797590-3045-8742-A6E7-C8AA5AE131ED}" srcOrd="6" destOrd="0" presId="urn:microsoft.com/office/officeart/2005/8/layout/vProcess5"/>
    <dgm:cxn modelId="{9FEACE34-60CF-154B-B41C-8B24A06DAF82}" type="presParOf" srcId="{99A4B26D-9C45-1C4F-8AD6-E5222831926F}" destId="{3C5469C9-32C2-AA45-A864-03A37E4EDB5D}" srcOrd="7" destOrd="0" presId="urn:microsoft.com/office/officeart/2005/8/layout/vProcess5"/>
    <dgm:cxn modelId="{FD4B8C3B-F4C1-DC4B-85D1-FB52D0814B35}" type="presParOf" srcId="{99A4B26D-9C45-1C4F-8AD6-E5222831926F}" destId="{F795994D-7A30-1449-AA43-BE56722EC4A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CA74B-C4A8-A347-91DD-4F36AB8B28E0}">
      <dsp:nvSpPr>
        <dsp:cNvPr id="0" name=""/>
        <dsp:cNvSpPr/>
      </dsp:nvSpPr>
      <dsp:spPr>
        <a:xfrm>
          <a:off x="0" y="0"/>
          <a:ext cx="8800623" cy="991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i="0" kern="1200" baseline="0"/>
            <a:t>Pure Functions (Czyste funkcje):</a:t>
          </a:r>
          <a:r>
            <a:rPr lang="pl-PL" sz="2000" b="0" i="0" kern="1200" baseline="0"/>
            <a:t> Zawsze zwracają ten sam wynik dla tych samych argumentów. Zero ukrytych zależności.</a:t>
          </a:r>
          <a:endParaRPr lang="en-US" sz="2000" kern="1200"/>
        </a:p>
      </dsp:txBody>
      <dsp:txXfrm>
        <a:off x="29030" y="29030"/>
        <a:ext cx="7731078" cy="933106"/>
      </dsp:txXfrm>
    </dsp:sp>
    <dsp:sp modelId="{03001FD5-CCAD-1844-A16C-C81582DCFA24}">
      <dsp:nvSpPr>
        <dsp:cNvPr id="0" name=""/>
        <dsp:cNvSpPr/>
      </dsp:nvSpPr>
      <dsp:spPr>
        <a:xfrm>
          <a:off x="776525" y="1156360"/>
          <a:ext cx="8800623" cy="991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i="0" kern="1200" baseline="0"/>
            <a:t>Brak efektów ubocznych:</a:t>
          </a:r>
          <a:r>
            <a:rPr lang="pl-PL" sz="2000" b="0" i="0" kern="1200" baseline="0"/>
            <a:t> Nie modyfikujemy zmiennych globalnych ani wejścia.</a:t>
          </a:r>
          <a:endParaRPr lang="en-US" sz="2000" kern="1200"/>
        </a:p>
      </dsp:txBody>
      <dsp:txXfrm>
        <a:off x="805555" y="1185390"/>
        <a:ext cx="7321779" cy="933106"/>
      </dsp:txXfrm>
    </dsp:sp>
    <dsp:sp modelId="{603F6B23-2C5A-E141-81E3-1AF5D2B65DB5}">
      <dsp:nvSpPr>
        <dsp:cNvPr id="0" name=""/>
        <dsp:cNvSpPr/>
      </dsp:nvSpPr>
      <dsp:spPr>
        <a:xfrm>
          <a:off x="1553051" y="2312721"/>
          <a:ext cx="8800623" cy="991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i="0" kern="1200" baseline="0"/>
            <a:t>Immutability (Niemutowalność):</a:t>
          </a:r>
          <a:r>
            <a:rPr lang="pl-PL" sz="2000" b="0" i="0" kern="1200" baseline="0"/>
            <a:t> Pracujemy na kopiach! Zamiast zmieniać istniejącą listę append(), tworzymy nową.</a:t>
          </a:r>
          <a:endParaRPr lang="en-US" sz="2000" kern="1200"/>
        </a:p>
      </dsp:txBody>
      <dsp:txXfrm>
        <a:off x="1582081" y="2341751"/>
        <a:ext cx="7321779" cy="933106"/>
      </dsp:txXfrm>
    </dsp:sp>
    <dsp:sp modelId="{16A997BB-7019-A541-819C-F7563AC2B3A8}">
      <dsp:nvSpPr>
        <dsp:cNvPr id="0" name=""/>
        <dsp:cNvSpPr/>
      </dsp:nvSpPr>
      <dsp:spPr>
        <a:xfrm>
          <a:off x="8156365" y="751634"/>
          <a:ext cx="644258" cy="644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301323" y="751634"/>
        <a:ext cx="354342" cy="484804"/>
      </dsp:txXfrm>
    </dsp:sp>
    <dsp:sp modelId="{3A0F467D-104C-9744-ABD5-48A2EFA5F448}">
      <dsp:nvSpPr>
        <dsp:cNvPr id="0" name=""/>
        <dsp:cNvSpPr/>
      </dsp:nvSpPr>
      <dsp:spPr>
        <a:xfrm>
          <a:off x="8932891" y="1901387"/>
          <a:ext cx="644258" cy="644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9077849" y="1901387"/>
        <a:ext cx="354342" cy="484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A54B7-AD31-4A80-BD38-0AA3F03C3FC7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4E2CE-7220-48C2-8410-A3D1ADDCB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94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4266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6202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3399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0530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8221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2973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1580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230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14427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51044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3017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9188903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1970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78496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42974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29904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8607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0CB28-85DB-480B-8C99-FD493ACC7120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DE196-8A13-4FF7-A07E-102851959E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13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reza.shokrzad/from-basics-to-ml-models-unraveling-the-power-of-pythons-map-function-170da0697f42" TargetMode="External"/><Relationship Id="rId2" Type="http://schemas.openxmlformats.org/officeDocument/2006/relationships/hyperlink" Target="https://semcore.pl/jakie-sa-roznice-pomiedzy-programowaniem-funkcyjnym-a-obiektowy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echvidvan.com/tutorials/lambda-expression-in-python/" TargetMode="External"/><Relationship Id="rId4" Type="http://schemas.openxmlformats.org/officeDocument/2006/relationships/hyperlink" Target="https://www.boardinfinity.com/blog/python-reduce-function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6505F14-5E78-4CBB-29B1-BE722A38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900"/>
              <a:t>PROGRAMOWANIE </a:t>
            </a:r>
            <a:br>
              <a:rPr lang="en-US" sz="2900"/>
            </a:br>
            <a:r>
              <a:rPr lang="en-US" sz="2900"/>
              <a:t>FUNKCYJNE</a:t>
            </a:r>
            <a:br>
              <a:rPr lang="en-US" sz="2900"/>
            </a:br>
            <a:r>
              <a:rPr lang="en-US" sz="2900"/>
              <a:t>NA PODSTAWIE JĘZYKA PYTHON</a:t>
            </a:r>
          </a:p>
        </p:txBody>
      </p:sp>
      <p:pic>
        <p:nvPicPr>
          <p:cNvPr id="3" name="Symbol zastępczy obrazu 2">
            <a:extLst>
              <a:ext uri="{FF2B5EF4-FFF2-40B4-BE49-F238E27FC236}">
                <a16:creationId xmlns:a16="http://schemas.microsoft.com/office/drawing/2014/main" id="{43B51951-57D3-955C-28B8-98231F28DF5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alphaModFix amt="35000"/>
          </a:blip>
          <a:srcRect t="29"/>
          <a:stretch>
            <a:fillRect/>
          </a:stretch>
        </p:blipFill>
        <p:spPr>
          <a:xfrm>
            <a:off x="20" y="0"/>
            <a:ext cx="12191980" cy="685597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1220EED-162E-0AF3-4E7D-BABD10B60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2545521"/>
            <a:ext cx="10353762" cy="369513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ZESPÓŁ: ARKADIUSZ KĘPA, WOJCIECH PIETRAS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PRZEDMIOT: JĘZYKI PROGRAMOWANIA WYŻSZEGO POZIOMU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DATA PREZENTACJI: 25.03.2026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063C566E-1106-33A1-6C59-C235E0B0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8FB7EE11-959A-23A4-D29C-D85E5E95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6A61CA-0502-4EE4-9724-96EA822543E5}" type="slidenum">
              <a:rPr lang="en-US"/>
              <a:pPr defTabSz="914400"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15895D4-FC76-217D-0209-367E37910230}"/>
              </a:ext>
            </a:extLst>
          </p:cNvPr>
          <p:cNvSpPr txBox="1"/>
          <p:nvPr/>
        </p:nvSpPr>
        <p:spPr>
          <a:xfrm>
            <a:off x="2084159" y="735592"/>
            <a:ext cx="8013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PROGRAMOWANIE FUNKCYJNE NA PODSTAWIE JĘZYKA PYTHON</a:t>
            </a:r>
          </a:p>
        </p:txBody>
      </p:sp>
    </p:spTree>
    <p:extLst>
      <p:ext uri="{BB962C8B-B14F-4D97-AF65-F5344CB8AC3E}">
        <p14:creationId xmlns:p14="http://schemas.microsoft.com/office/powerpoint/2010/main" val="371493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8C566C-68C9-1DD5-ECF5-64234DC1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 Rounded MT Bold" panose="020F0704030504030204" pitchFamily="34" charset="0"/>
              </a:rPr>
              <a:t>SPIS TREŚCI</a:t>
            </a:r>
            <a:endParaRPr lang="pl-PL">
              <a:latin typeface="Arial Rounded MT Bold" panose="020F0704030504030204" pitchFamily="34" charset="0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36A37AF2-D7D5-ACC4-6E72-CD0B6BB831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6064"/>
            <a:ext cx="6352824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Wprowadzenie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Cel,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przedmiot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zakres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demonstracji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dlaczego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FP jest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ważne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?).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Fundamenty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Programowania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Funkcyjnego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Część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Teoretyczna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Kluczowe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8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koncepcji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od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czystych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funkcji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 chaining.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Różnice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między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podejściem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imperatywnym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deklaratywnym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altLang="en-US" sz="14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Podsumowanie</a:t>
            </a:r>
            <a:r>
              <a:rPr lang="en-US" alt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oraz</a:t>
            </a:r>
            <a:r>
              <a:rPr lang="en-US" alt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prezentacja</a:t>
            </a:r>
            <a:r>
              <a:rPr lang="en-US" alt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prostej</a:t>
            </a:r>
            <a:r>
              <a:rPr lang="en-US" alt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aplikacji</a:t>
            </a:r>
            <a:endParaRPr kumimoji="0" lang="en-US" altLang="en-US" sz="14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Sprawdź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swoją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wiedzę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czyli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interaktywny</a:t>
            </a:r>
            <a:r>
              <a:rPr lang="en-US" altLang="en-US" sz="14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quiz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pytań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testowych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platformie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UPEL.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Warsztat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FP w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Akcji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Część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Praktyczna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Live coding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zadania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dla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uczestników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Repozytorium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GitHub).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7D8BBE5-F367-DA04-E14A-E36A895E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2058" name="Picture 10" descr="Python - Wikiversity">
            <a:extLst>
              <a:ext uri="{FF2B5EF4-FFF2-40B4-BE49-F238E27FC236}">
                <a16:creationId xmlns:a16="http://schemas.microsoft.com/office/drawing/2014/main" id="{4BA2114C-FB7F-3B39-822F-D0A060858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" r="-1" b="-1"/>
          <a:stretch>
            <a:fillRect/>
          </a:stretch>
        </p:blipFill>
        <p:spPr bwMode="auto">
          <a:xfrm>
            <a:off x="8608206" y="2608946"/>
            <a:ext cx="1980805" cy="1970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72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ᐈ Nowy kurs z programowania! Python od podstaw. ➡️ blog CGwisdom.pl">
            <a:extLst>
              <a:ext uri="{FF2B5EF4-FFF2-40B4-BE49-F238E27FC236}">
                <a16:creationId xmlns:a16="http://schemas.microsoft.com/office/drawing/2014/main" id="{2383939E-9B77-629A-289B-8F34E3C52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28" b="8250"/>
          <a:stretch>
            <a:fillRect/>
          </a:stretch>
        </p:blipFill>
        <p:spPr bwMode="auto">
          <a:xfrm>
            <a:off x="20" y="2030"/>
            <a:ext cx="12191980" cy="685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740E0FFE-D0EA-6DC9-DC46-3184C195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 Rounded MT Bold" panose="020F0704030504030204" pitchFamily="34" charset="0"/>
              </a:rPr>
              <a:t>WPROWADZENIE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8987B0F-6A80-3D74-CDBE-9B7B6B7C5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Cel </a:t>
            </a:r>
            <a:r>
              <a:rPr lang="en-US" sz="1700" b="1" err="1">
                <a:latin typeface="Arial" panose="020B0604020202020204" pitchFamily="34" charset="0"/>
                <a:cs typeface="Arial" panose="020B0604020202020204" pitchFamily="34" charset="0"/>
              </a:rPr>
              <a:t>demonstracji</a:t>
            </a: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pl-PL" sz="1700">
                <a:latin typeface="Arial" panose="020B0604020202020204" pitchFamily="34" charset="0"/>
                <a:cs typeface="Arial" panose="020B0604020202020204" pitchFamily="34" charset="0"/>
              </a:rPr>
              <a:t>Zrozumienie zmiany paradygmatu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pl-PL" sz="1700">
                <a:latin typeface="Arial" panose="020B0604020202020204" pitchFamily="34" charset="0"/>
                <a:cs typeface="Arial" panose="020B0604020202020204" pitchFamily="34" charset="0"/>
              </a:rPr>
              <a:t>Opanowanie narzędzi </a:t>
            </a:r>
            <a:r>
              <a:rPr lang="pl-PL" sz="1700" err="1">
                <a:latin typeface="Arial" panose="020B0604020202020204" pitchFamily="34" charset="0"/>
                <a:cs typeface="Arial" panose="020B0604020202020204" pitchFamily="34" charset="0"/>
              </a:rPr>
              <a:t>Pythona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pl-PL" sz="1700">
                <a:latin typeface="Arial" panose="020B0604020202020204" pitchFamily="34" charset="0"/>
                <a:cs typeface="Arial" panose="020B0604020202020204" pitchFamily="34" charset="0"/>
              </a:rPr>
              <a:t>Poprawa jakości kodu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err="1">
                <a:latin typeface="Arial" panose="020B0604020202020204" pitchFamily="34" charset="0"/>
                <a:cs typeface="Arial" panose="020B0604020202020204" pitchFamily="34" charset="0"/>
              </a:rPr>
              <a:t>Przedmiot</a:t>
            </a: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err="1">
                <a:latin typeface="Arial" panose="020B0604020202020204" pitchFamily="34" charset="0"/>
                <a:cs typeface="Arial" panose="020B0604020202020204" pitchFamily="34" charset="0"/>
              </a:rPr>
              <a:t>zakres</a:t>
            </a:r>
            <a:r>
              <a:rPr lang="en-US" sz="17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Fundamenty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 FP – 8 </a:t>
            </a: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kluczowych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pojęć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Praktyczna</a:t>
            </a:r>
            <a:r>
              <a:rPr lang="en-US" sz="1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implementacja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700" err="1">
                <a:latin typeface="Arial" panose="020B0604020202020204" pitchFamily="34" charset="0"/>
                <a:cs typeface="Arial" panose="020B0604020202020204" pitchFamily="34" charset="0"/>
              </a:rPr>
              <a:t>Warsztat</a:t>
            </a: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C9ABBE-3F3D-9D28-AF4B-9EFB91D1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2726DBC-F239-CB39-5187-850635D4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1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7BD25-6598-A715-563F-9505724C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E2AB9E-2EF3-828F-426D-FC26696D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ffectLst/>
              </a:rPr>
              <a:t>CZYM JEST PROGRAMOWANIE FUNKCYJNE?</a:t>
            </a:r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E9EC7BC-2530-1363-4672-9F97A64F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EDF4B16-A07A-1422-CAB5-A51AA47B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A131940-D4C2-9756-E78D-D3332A23D30C}"/>
              </a:ext>
            </a:extLst>
          </p:cNvPr>
          <p:cNvSpPr txBox="1"/>
          <p:nvPr/>
        </p:nvSpPr>
        <p:spPr>
          <a:xfrm>
            <a:off x="1143232" y="2320663"/>
            <a:ext cx="98948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Podejście, w którym aplikacje buduje się za pomocą </a:t>
            </a:r>
            <a:r>
              <a:rPr lang="pl-PL" b="1"/>
              <a:t>czystych funkcji</a:t>
            </a:r>
            <a:r>
              <a:rPr lang="pl-PL"/>
              <a:t>, przy jednoczesnym unikaniu modyfikowania ukrytego stanu.</a:t>
            </a:r>
            <a:endParaRPr lang="en-US"/>
          </a:p>
          <a:p>
            <a:endParaRPr lang="en-US"/>
          </a:p>
          <a:p>
            <a:r>
              <a:rPr lang="en-US" b="1"/>
              <a:t>3 złote zasady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Deklaratywność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Czyste Funkcje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Niezmienność danych</a:t>
            </a:r>
          </a:p>
        </p:txBody>
      </p:sp>
    </p:spTree>
    <p:extLst>
      <p:ext uri="{BB962C8B-B14F-4D97-AF65-F5344CB8AC3E}">
        <p14:creationId xmlns:p14="http://schemas.microsoft.com/office/powerpoint/2010/main" val="198533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7B3475-51DC-EBF5-D125-61C9C9F2F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472" y="609600"/>
            <a:ext cx="6340084" cy="1326321"/>
          </a:xfrm>
        </p:spPr>
        <p:txBody>
          <a:bodyPr>
            <a:normAutofit/>
          </a:bodyPr>
          <a:lstStyle/>
          <a:p>
            <a:r>
              <a:rPr lang="en-US" sz="2100" b="1"/>
              <a:t>PARADYGMATY</a:t>
            </a:r>
            <a:br>
              <a:rPr lang="en-US" sz="2100" b="1"/>
            </a:br>
            <a:r>
              <a:rPr lang="pl-PL" sz="2100" b="1"/>
              <a:t>Imperatywnie vs Deklaratywnie</a:t>
            </a:r>
            <a:br>
              <a:rPr lang="pl-PL" sz="2100"/>
            </a:br>
            <a:br>
              <a:rPr lang="pl-PL" sz="2100"/>
            </a:br>
            <a:endParaRPr lang="pl-PL" sz="210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77EDE1-8C58-8C96-B562-A2A2E96569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7471" y="2096064"/>
            <a:ext cx="6340085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Imperatywnie (JAK):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Skupienie na krokach, pętlach i zmianach stanu. Maszyna dostaje instrukcję krok po kroku.</a:t>
            </a:r>
            <a:endParaRPr kumimoji="0" lang="en-US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Deklaratywnie (CO):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Skupienie na wyniku. Mówimy programowi, co chcemy osiągnąć, ukrywając logikę "pod maską".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9F5586F-6D0B-02F7-A3E4-8264489C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1218" y="6309360"/>
            <a:ext cx="27432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0F6E36B8-FEB0-A444-B7D2-EB91F390F068}" type="datetime1">
              <a:rPr lang="en-US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3/17/26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8F37D8E-1DE9-16F5-A38E-568EE986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27471" y="6309360"/>
            <a:ext cx="484283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ED786FA-F98A-9EDA-975B-C4300EEE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9" name="Picture 8" descr="Używane części maszyny">
            <a:extLst>
              <a:ext uri="{FF2B5EF4-FFF2-40B4-BE49-F238E27FC236}">
                <a16:creationId xmlns:a16="http://schemas.microsoft.com/office/drawing/2014/main" id="{C6357F6F-AF73-6A7E-A6BD-23E36AA9AC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86" r="17490" b="-1"/>
          <a:stretch>
            <a:fillRect/>
          </a:stretch>
        </p:blipFill>
        <p:spPr>
          <a:xfrm>
            <a:off x="20" y="10"/>
            <a:ext cx="463598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78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F39B89-99AB-235D-03EB-9F00BCAC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431" y="-192903"/>
            <a:ext cx="5021337" cy="1922107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PORÓWNANIE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7ACD72E-2343-1B35-E844-E2FA56DC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24840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5E41456-3F4A-C9E9-8E61-939274C3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4840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2A34FF00-6CE9-361E-E363-4E9DAE1D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32" y="1238473"/>
            <a:ext cx="5437496" cy="1916716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49223F52-0898-052C-97AF-B0E2652CB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586" y="1261857"/>
            <a:ext cx="5437499" cy="1862343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2763CC0-5EFA-BFEE-4D84-927EB54B4CAA}"/>
              </a:ext>
            </a:extLst>
          </p:cNvPr>
          <p:cNvSpPr txBox="1"/>
          <p:nvPr/>
        </p:nvSpPr>
        <p:spPr>
          <a:xfrm>
            <a:off x="497632" y="4000500"/>
            <a:ext cx="5437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Podejście</a:t>
            </a:r>
            <a:r>
              <a:rPr lang="en-US"/>
              <a:t> </a:t>
            </a:r>
            <a:r>
              <a:rPr lang="en-US" err="1"/>
              <a:t>Funkcyjne</a:t>
            </a:r>
            <a:endParaRPr lang="en-US"/>
          </a:p>
          <a:p>
            <a:r>
              <a:rPr lang="en-US"/>
              <a:t>- </a:t>
            </a:r>
            <a:r>
              <a:rPr lang="en-US" err="1"/>
              <a:t>Opisujemy</a:t>
            </a:r>
            <a:r>
              <a:rPr lang="en-US"/>
              <a:t> </a:t>
            </a:r>
            <a:r>
              <a:rPr lang="en-US" err="1"/>
              <a:t>transformację</a:t>
            </a:r>
            <a:r>
              <a:rPr lang="en-US"/>
              <a:t> </a:t>
            </a:r>
            <a:r>
              <a:rPr lang="en-US" err="1"/>
              <a:t>danych</a:t>
            </a:r>
            <a:r>
              <a:rPr lang="en-US"/>
              <a:t>. Nie </a:t>
            </a:r>
            <a:r>
              <a:rPr lang="en-US" err="1"/>
              <a:t>interesuje</a:t>
            </a:r>
            <a:r>
              <a:rPr lang="en-US"/>
              <a:t> </a:t>
            </a:r>
            <a:r>
              <a:rPr lang="en-US" err="1"/>
              <a:t>nas</a:t>
            </a:r>
            <a:r>
              <a:rPr lang="en-US"/>
              <a:t>, jak </a:t>
            </a:r>
            <a:r>
              <a:rPr lang="en-US" err="1"/>
              <a:t>technicznie</a:t>
            </a:r>
            <a:r>
              <a:rPr lang="en-US"/>
              <a:t> </a:t>
            </a:r>
            <a:r>
              <a:rPr lang="en-US" err="1"/>
              <a:t>przebiega</a:t>
            </a:r>
            <a:r>
              <a:rPr lang="en-US"/>
              <a:t> </a:t>
            </a:r>
            <a:r>
              <a:rPr lang="en-US" err="1"/>
              <a:t>pętla</a:t>
            </a:r>
            <a:r>
              <a:rPr lang="en-US"/>
              <a:t>. </a:t>
            </a:r>
            <a:r>
              <a:rPr lang="en-US" err="1"/>
              <a:t>Kod</a:t>
            </a:r>
            <a:r>
              <a:rPr lang="en-US"/>
              <a:t> jest </a:t>
            </a:r>
            <a:r>
              <a:rPr lang="en-US" err="1"/>
              <a:t>krótszy</a:t>
            </a:r>
            <a:r>
              <a:rPr lang="en-US"/>
              <a:t> I </a:t>
            </a:r>
            <a:r>
              <a:rPr lang="en-US" err="1"/>
              <a:t>trudniej</a:t>
            </a:r>
            <a:r>
              <a:rPr lang="en-US"/>
              <a:t> w nim o </a:t>
            </a:r>
            <a:r>
              <a:rPr lang="en-US" err="1"/>
              <a:t>jakiś</a:t>
            </a:r>
            <a:r>
              <a:rPr lang="en-US"/>
              <a:t> </a:t>
            </a:r>
            <a:r>
              <a:rPr lang="en-US" err="1"/>
              <a:t>błąd</a:t>
            </a:r>
            <a:r>
              <a:rPr lang="en-US"/>
              <a:t>.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33F6956-AB17-620F-2811-AD0E48B22635}"/>
              </a:ext>
            </a:extLst>
          </p:cNvPr>
          <p:cNvSpPr txBox="1"/>
          <p:nvPr/>
        </p:nvSpPr>
        <p:spPr>
          <a:xfrm>
            <a:off x="6408313" y="4000500"/>
            <a:ext cx="5284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Podejście</a:t>
            </a:r>
            <a:r>
              <a:rPr lang="en-US"/>
              <a:t> </a:t>
            </a:r>
            <a:r>
              <a:rPr lang="en-US" err="1"/>
              <a:t>Imperatywne</a:t>
            </a:r>
            <a:endParaRPr lang="en-US"/>
          </a:p>
          <a:p>
            <a:r>
              <a:rPr lang="en-US"/>
              <a:t>- </a:t>
            </a:r>
            <a:r>
              <a:rPr lang="en-US" err="1"/>
              <a:t>Musimy</a:t>
            </a:r>
            <a:r>
              <a:rPr lang="en-US"/>
              <a:t> </a:t>
            </a:r>
            <a:r>
              <a:rPr lang="en-US" err="1"/>
              <a:t>stworzyć</a:t>
            </a:r>
            <a:r>
              <a:rPr lang="en-US"/>
              <a:t> </a:t>
            </a:r>
            <a:r>
              <a:rPr lang="en-US" err="1"/>
              <a:t>pustą</a:t>
            </a:r>
            <a:r>
              <a:rPr lang="en-US"/>
              <a:t> </a:t>
            </a:r>
            <a:r>
              <a:rPr lang="en-US" err="1"/>
              <a:t>listę</a:t>
            </a:r>
            <a:r>
              <a:rPr lang="en-US"/>
              <a:t>, </a:t>
            </a:r>
            <a:r>
              <a:rPr lang="en-US" err="1"/>
              <a:t>zarządzać</a:t>
            </a:r>
            <a:r>
              <a:rPr lang="en-US"/>
              <a:t> </a:t>
            </a:r>
            <a:r>
              <a:rPr lang="en-US" err="1"/>
              <a:t>pętlą</a:t>
            </a:r>
            <a:r>
              <a:rPr lang="en-US"/>
              <a:t>, </a:t>
            </a:r>
            <a:r>
              <a:rPr lang="en-US" err="1"/>
              <a:t>ręcznie</a:t>
            </a:r>
            <a:r>
              <a:rPr lang="en-US"/>
              <a:t> </a:t>
            </a:r>
            <a:r>
              <a:rPr lang="en-US" err="1"/>
              <a:t>dodawać</a:t>
            </a:r>
            <a:r>
              <a:rPr lang="en-US"/>
              <a:t> element I </a:t>
            </a:r>
            <a:r>
              <a:rPr lang="en-US" err="1"/>
              <a:t>pilnować</a:t>
            </a:r>
            <a:r>
              <a:rPr lang="en-US"/>
              <a:t> </a:t>
            </a:r>
            <a:r>
              <a:rPr lang="en-US" err="1"/>
              <a:t>stanu</a:t>
            </a:r>
            <a:r>
              <a:rPr lang="en-US"/>
              <a:t> </a:t>
            </a:r>
            <a:r>
              <a:rPr lang="en-US" err="1"/>
              <a:t>zmiennej</a:t>
            </a:r>
            <a:r>
              <a:rPr lang="en-US"/>
              <a:t> </a:t>
            </a:r>
            <a:r>
              <a:rPr lang="en-US" err="1"/>
              <a:t>wynnik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891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65BE95B6-40D0-406D-6DBB-94DE73036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Czyste funkcje i 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-webkit-standard"/>
              </a:rPr>
              <a:t>Niemutowalność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Rectangle 2">
            <a:extLst>
              <a:ext uri="{FF2B5EF4-FFF2-40B4-BE49-F238E27FC236}">
                <a16:creationId xmlns:a16="http://schemas.microsoft.com/office/drawing/2014/main" id="{6E8BDE60-B515-F2C5-1521-F0FA79D9DE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309345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31589E9-C922-6D12-0F4B-9E1C9769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F118506-3221-2B8A-2277-3CF2599B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5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56B482-6973-751E-13C1-0977747A9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440" y="183515"/>
            <a:ext cx="3672679" cy="9976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dirty="0" err="1"/>
              <a:t>Brudne</a:t>
            </a:r>
            <a:r>
              <a:rPr lang="en-US" sz="2400" dirty="0"/>
              <a:t> </a:t>
            </a:r>
            <a:r>
              <a:rPr lang="en-US" sz="2400" dirty="0" err="1"/>
              <a:t>funkcje</a:t>
            </a:r>
            <a:endParaRPr lang="en-US" sz="2400" dirty="0"/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539AA4C4-6EA2-2A37-4779-CDDAB02ED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817426"/>
            <a:ext cx="7212920" cy="5223148"/>
          </a:xfrm>
          <a:prstGeom prst="rect">
            <a:avLst/>
          </a:prstGeom>
        </p:spPr>
      </p:pic>
      <p:sp>
        <p:nvSpPr>
          <p:cNvPr id="30" name="Content Placeholder 22">
            <a:extLst>
              <a:ext uri="{FF2B5EF4-FFF2-40B4-BE49-F238E27FC236}">
                <a16:creationId xmlns:a16="http://schemas.microsoft.com/office/drawing/2014/main" id="{B895DEB5-671E-CF3C-DC4D-7F892D736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874" y="1392454"/>
            <a:ext cx="2767702" cy="45734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1200" dirty="0"/>
              <a:t>"Brudna" funkcja to taka, która robi przynajmniej jedną z tych rzeczy:</a:t>
            </a:r>
          </a:p>
          <a:p>
            <a:r>
              <a:rPr lang="pl-PL" sz="1200" b="1" dirty="0"/>
              <a:t>Zależy od stanu zewnętrznego</a:t>
            </a:r>
            <a:r>
              <a:rPr lang="pl-PL" sz="1200" dirty="0"/>
              <a:t> (wynik nie zależy tylko od argumentów).</a:t>
            </a:r>
          </a:p>
          <a:p>
            <a:r>
              <a:rPr lang="pl-PL" sz="1200" b="1" dirty="0"/>
              <a:t>Modyfikuje stan zewnętrzny</a:t>
            </a:r>
            <a:r>
              <a:rPr lang="pl-PL" sz="1200" dirty="0"/>
              <a:t> (wywołuje efekty uboczne, np. zmienia zmienną globalną).</a:t>
            </a:r>
          </a:p>
          <a:p>
            <a:r>
              <a:rPr lang="pl-PL" sz="1200" b="1" dirty="0"/>
              <a:t>Nadpisuje swoje argumenty</a:t>
            </a:r>
            <a:r>
              <a:rPr lang="pl-PL" sz="1200" dirty="0"/>
              <a:t> zamiast zwracać nową wartość.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To jest </a:t>
            </a:r>
            <a:r>
              <a:rPr lang="en-US" sz="1200" dirty="0" err="1"/>
              <a:t>podejście</a:t>
            </a:r>
            <a:r>
              <a:rPr lang="en-US" sz="1200" dirty="0"/>
              <a:t> </a:t>
            </a:r>
            <a:r>
              <a:rPr lang="en-US" sz="1200" b="1" dirty="0" err="1"/>
              <a:t>imperatywne</a:t>
            </a:r>
            <a:r>
              <a:rPr lang="en-US" sz="1200" dirty="0"/>
              <a:t> w </a:t>
            </a:r>
            <a:r>
              <a:rPr lang="en-US" sz="1200" dirty="0" err="1"/>
              <a:t>najgorszym</a:t>
            </a:r>
            <a:r>
              <a:rPr lang="en-US" sz="1200" dirty="0"/>
              <a:t> </a:t>
            </a:r>
            <a:r>
              <a:rPr lang="en-US" sz="1200" dirty="0" err="1"/>
              <a:t>wydaniu</a:t>
            </a:r>
            <a:r>
              <a:rPr lang="en-US" sz="1200" dirty="0"/>
              <a:t>.</a:t>
            </a:r>
            <a:endParaRPr lang="pl-PL" sz="1200" dirty="0"/>
          </a:p>
          <a:p>
            <a:endParaRPr lang="en-US" sz="1200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AB8B17-D568-8E0F-0050-A8CB12A8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 dirty="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AEAD8D6-DE8D-4DB0-6EFD-4D9CB59BC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54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3DA6-D24F-EA74-D15B-EA506FBE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0B99B8-71C2-5752-7EF1-F7DC0719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6440" y="183515"/>
            <a:ext cx="3672679" cy="9976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 dirty="0"/>
              <a:t>CZYSTE </a:t>
            </a:r>
            <a:r>
              <a:rPr lang="en-US" sz="2400" dirty="0" err="1"/>
              <a:t>funkcje</a:t>
            </a:r>
            <a:endParaRPr lang="en-US" sz="2400" dirty="0"/>
          </a:p>
        </p:txBody>
      </p:sp>
      <p:sp>
        <p:nvSpPr>
          <p:cNvPr id="30" name="Content Placeholder 22">
            <a:extLst>
              <a:ext uri="{FF2B5EF4-FFF2-40B4-BE49-F238E27FC236}">
                <a16:creationId xmlns:a16="http://schemas.microsoft.com/office/drawing/2014/main" id="{EA720ABD-7713-F60B-8768-88499289B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6780" y="1392454"/>
            <a:ext cx="2900796" cy="45734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200" dirty="0"/>
              <a:t>A</a:t>
            </a:r>
            <a:r>
              <a:rPr lang="pl-PL" sz="1200" dirty="0"/>
              <a:t>by funkcja mogła zostać uznana za "czystą", musi spełniać dwa rygorystyczne warunki</a:t>
            </a:r>
            <a:endParaRPr lang="en-US" sz="1200" b="1" dirty="0"/>
          </a:p>
          <a:p>
            <a:r>
              <a:rPr lang="en-US" sz="1200" b="1" dirty="0" err="1"/>
              <a:t>Determinizm</a:t>
            </a:r>
            <a:r>
              <a:rPr lang="en-US" sz="1200" b="1" dirty="0"/>
              <a:t> (</a:t>
            </a:r>
            <a:r>
              <a:rPr lang="en-US" sz="1200" b="1" dirty="0" err="1"/>
              <a:t>Przewidywalność</a:t>
            </a:r>
            <a:r>
              <a:rPr lang="en-US" sz="1200" b="1" dirty="0"/>
              <a:t>) </a:t>
            </a:r>
            <a:r>
              <a:rPr lang="en-US" sz="1200" dirty="0" err="1"/>
              <a:t>czyli</a:t>
            </a:r>
            <a:r>
              <a:rPr lang="en-US" sz="1200" dirty="0"/>
              <a:t> </a:t>
            </a:r>
            <a:r>
              <a:rPr lang="en-US" sz="1200" dirty="0" err="1"/>
              <a:t>brak</a:t>
            </a:r>
            <a:r>
              <a:rPr lang="en-US" sz="1200" dirty="0"/>
              <a:t> </a:t>
            </a:r>
            <a:r>
              <a:rPr lang="en-US" sz="1200" dirty="0" err="1"/>
              <a:t>zależności</a:t>
            </a:r>
            <a:r>
              <a:rPr lang="en-US" sz="1200" dirty="0"/>
              <a:t> </a:t>
            </a:r>
            <a:r>
              <a:rPr lang="en-US" sz="1200" dirty="0" err="1"/>
              <a:t>zewnętrznych</a:t>
            </a:r>
            <a:r>
              <a:rPr lang="en-US" sz="1200" dirty="0"/>
              <a:t>, </a:t>
            </a:r>
            <a:r>
              <a:rPr lang="en-US" sz="1200" dirty="0" err="1"/>
              <a:t>oraz</a:t>
            </a:r>
            <a:r>
              <a:rPr lang="en-US" sz="1200" dirty="0"/>
              <a:t> </a:t>
            </a:r>
            <a:r>
              <a:rPr lang="pl-PL" sz="1200" dirty="0"/>
              <a:t>Cała "wiedza" funkcji pochodzi wyłącznie z tego, co </a:t>
            </a:r>
            <a:r>
              <a:rPr lang="pl-PL" sz="1200" dirty="0" err="1"/>
              <a:t>przekaza</a:t>
            </a:r>
            <a:r>
              <a:rPr lang="en-US" sz="1200" dirty="0" err="1"/>
              <a:t>lismy</a:t>
            </a:r>
            <a:r>
              <a:rPr lang="pl-PL" sz="1200" dirty="0"/>
              <a:t> w nawiasach.</a:t>
            </a:r>
            <a:endParaRPr lang="en-US" sz="1200" dirty="0"/>
          </a:p>
          <a:p>
            <a:r>
              <a:rPr lang="pl-PL" sz="1200" b="1" dirty="0"/>
              <a:t>Brak efektów ubocznych (No </a:t>
            </a:r>
            <a:r>
              <a:rPr lang="pl-PL" sz="1200" b="1" dirty="0" err="1"/>
              <a:t>Side</a:t>
            </a:r>
            <a:r>
              <a:rPr lang="pl-PL" sz="1200" b="1" dirty="0"/>
              <a:t> </a:t>
            </a:r>
            <a:r>
              <a:rPr lang="pl-PL" sz="1200" b="1" dirty="0" err="1"/>
              <a:t>Effects</a:t>
            </a:r>
            <a:r>
              <a:rPr lang="pl-PL" sz="1200" b="1" dirty="0"/>
              <a:t>)</a:t>
            </a:r>
            <a:r>
              <a:rPr lang="en-US" sz="1200" b="1" dirty="0"/>
              <a:t> </a:t>
            </a:r>
            <a:r>
              <a:rPr lang="en-US" sz="1200" dirty="0"/>
              <a:t>(</a:t>
            </a:r>
            <a:r>
              <a:rPr lang="pl-PL" sz="1200" dirty="0"/>
              <a:t>Funkcja zajmuje się wyłącznie obliczeniem i zwróceniem wartości. Nie "dotyka" świata zewnętrznego w trakcie swojego działania.</a:t>
            </a:r>
            <a:r>
              <a:rPr lang="en-US" sz="1200" dirty="0"/>
              <a:t>)</a:t>
            </a:r>
            <a:endParaRPr lang="pl-PL" sz="1200" dirty="0"/>
          </a:p>
          <a:p>
            <a:pPr marL="0" indent="0">
              <a:buNone/>
            </a:pPr>
            <a:r>
              <a:rPr lang="en-US" sz="1200" dirty="0"/>
              <a:t>To jest </a:t>
            </a:r>
            <a:r>
              <a:rPr lang="en-US" sz="1200" dirty="0" err="1"/>
              <a:t>podejście</a:t>
            </a:r>
            <a:r>
              <a:rPr lang="en-US" sz="1200" dirty="0"/>
              <a:t> </a:t>
            </a:r>
            <a:r>
              <a:rPr lang="en-US" sz="1200" b="1" dirty="0" err="1"/>
              <a:t>imperatywne</a:t>
            </a:r>
            <a:r>
              <a:rPr lang="en-US" sz="1200" dirty="0"/>
              <a:t> w </a:t>
            </a:r>
            <a:r>
              <a:rPr lang="en-US" sz="1200" dirty="0" err="1"/>
              <a:t>najgorszym</a:t>
            </a:r>
            <a:r>
              <a:rPr lang="en-US" sz="1200" dirty="0"/>
              <a:t> </a:t>
            </a:r>
            <a:r>
              <a:rPr lang="en-US" sz="1200" dirty="0" err="1"/>
              <a:t>wydaniu</a:t>
            </a:r>
            <a:r>
              <a:rPr lang="en-US" sz="1200" dirty="0"/>
              <a:t>.</a:t>
            </a:r>
            <a:endParaRPr lang="pl-PL" sz="1200" dirty="0"/>
          </a:p>
          <a:p>
            <a:endParaRPr lang="en-US" sz="1200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47F5DDD-4752-F2ED-B0BC-0ED8564A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 dirty="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3588A3-B512-C946-9BC4-F9A4A7814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CA1781CF-D4C0-26BC-685E-3C9292D75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24" y="2672624"/>
            <a:ext cx="6805882" cy="127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D076C-CD04-D642-8470-4BD34CF4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F1403F-0FF6-0711-875E-CE84827B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348" y="-1804035"/>
            <a:ext cx="3583953" cy="35002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500" dirty="0"/>
              <a:t>IMMUTABILITY – </a:t>
            </a:r>
            <a:r>
              <a:rPr lang="en-US" sz="2500" dirty="0" err="1"/>
              <a:t>Niemutowalność</a:t>
            </a:r>
            <a:r>
              <a:rPr lang="en-US" sz="2500" dirty="0"/>
              <a:t> </a:t>
            </a:r>
            <a:r>
              <a:rPr lang="en-US" sz="2500" dirty="0" err="1"/>
              <a:t>danych</a:t>
            </a:r>
            <a:endParaRPr lang="en-US" sz="2500" dirty="0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0A760627-7F98-49F3-99E6-ED04C739B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D1F88FD4-9011-4A6F-AB39-4DE7E445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4B87370-C87D-C997-B39F-809DACC03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52" y="1151910"/>
            <a:ext cx="5393579" cy="4584542"/>
          </a:xfrm>
          <a:prstGeom prst="rect">
            <a:avLst/>
          </a:pr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721BFB-1375-5E91-FA22-B4258241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DF2CB4C-2FF4-4C87-C95C-36AA644C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88E1A654-65F2-6677-A756-4E621E05542F}"/>
              </a:ext>
            </a:extLst>
          </p:cNvPr>
          <p:cNvSpPr txBox="1"/>
          <p:nvPr/>
        </p:nvSpPr>
        <p:spPr>
          <a:xfrm>
            <a:off x="8046348" y="2247900"/>
            <a:ext cx="3618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Brak </a:t>
            </a:r>
            <a:r>
              <a:rPr lang="en-US" dirty="0" err="1"/>
              <a:t>zmian</a:t>
            </a:r>
            <a:r>
              <a:rPr lang="en-US" dirty="0"/>
              <a:t> w </a:t>
            </a:r>
            <a:r>
              <a:rPr lang="en-US" dirty="0" err="1"/>
              <a:t>istniejącej</a:t>
            </a:r>
            <a:r>
              <a:rPr lang="en-US" dirty="0"/>
              <a:t> </a:t>
            </a:r>
            <a:r>
              <a:rPr lang="en-US" dirty="0" err="1"/>
              <a:t>liście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Przewidywalność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Bezpieczeństwo</a:t>
            </a:r>
            <a:r>
              <a:rPr lang="en-US" dirty="0"/>
              <a:t> </a:t>
            </a:r>
            <a:r>
              <a:rPr lang="en-US" dirty="0" err="1"/>
              <a:t>wątkowe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Łatwe</a:t>
            </a:r>
            <a:r>
              <a:rPr lang="en-US" dirty="0"/>
              <a:t> </a:t>
            </a:r>
            <a:r>
              <a:rPr lang="en-US" dirty="0" err="1"/>
              <a:t>debuggowanie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92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yfrowy wykres finansowy">
            <a:extLst>
              <a:ext uri="{FF2B5EF4-FFF2-40B4-BE49-F238E27FC236}">
                <a16:creationId xmlns:a16="http://schemas.microsoft.com/office/drawing/2014/main" id="{5AB39594-F378-85B6-2129-88E3308BA11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29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AE35A97-853E-D517-637B-E0F2E7EBB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Funkcje jako pełnoprawne wartości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38B0578-13BD-810E-74B9-11FE906EF8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pl-PL" altLang="pl-PL" sz="1600" dirty="0">
                <a:effectLst/>
              </a:rPr>
              <a:t>W </a:t>
            </a:r>
            <a:r>
              <a:rPr lang="pl-PL" altLang="pl-PL" sz="1600" dirty="0" err="1">
                <a:effectLst/>
              </a:rPr>
              <a:t>Pythonie</a:t>
            </a:r>
            <a:r>
              <a:rPr lang="pl-PL" altLang="pl-PL" sz="1600" dirty="0">
                <a:effectLst/>
              </a:rPr>
              <a:t> funkcje to tzw. </a:t>
            </a:r>
            <a:r>
              <a:rPr lang="pl-PL" altLang="pl-PL" sz="1600" i="1" dirty="0">
                <a:effectLst/>
              </a:rPr>
              <a:t>First-Class </a:t>
            </a:r>
            <a:r>
              <a:rPr lang="pl-PL" altLang="pl-PL" sz="1600" i="1" dirty="0" err="1">
                <a:effectLst/>
              </a:rPr>
              <a:t>Citizens</a:t>
            </a:r>
            <a:r>
              <a:rPr lang="pl-PL" altLang="pl-PL" sz="1600" dirty="0">
                <a:effectLst/>
              </a:rPr>
              <a:t>.</a:t>
            </a:r>
            <a:endParaRPr lang="en-US" altLang="pl-PL" sz="1600" dirty="0">
              <a:effectLst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pl-PL" sz="1600" dirty="0"/>
              <a:t>Ten koncept (tzw. </a:t>
            </a:r>
            <a:r>
              <a:rPr lang="pl-PL" sz="1600" b="1" dirty="0"/>
              <a:t>First-Class </a:t>
            </a:r>
            <a:r>
              <a:rPr lang="pl-PL" sz="1600" b="1" dirty="0" err="1"/>
              <a:t>Functions</a:t>
            </a:r>
            <a:r>
              <a:rPr lang="pl-PL" sz="1600" dirty="0"/>
              <a:t>) to moment, w którym programowanie staje się naprawdę elastyczne. Funkcja przestaje być tylko sztywnym blokiem kodu, a staje się "paczką", którą możesz wysłać komuś innemu.</a:t>
            </a:r>
            <a:endParaRPr lang="en-US" sz="1600" dirty="0"/>
          </a:p>
          <a:p>
            <a:pPr marL="0" indent="0">
              <a:buNone/>
            </a:pPr>
            <a:endParaRPr kumimoji="0" lang="en-US" altLang="pl-PL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Można je:</a:t>
            </a: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Przypisać do zmiennej (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x = 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moja_funkcja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).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Przekazać jako argument do innej funkcji.</a:t>
            </a: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Zwrócić z innej funkcji.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D9008C7-9DA4-4828-4950-A8504CA5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35843E2-B957-CBC1-5C1C-109514AE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49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DBA7-8B13-41FA-F2C7-B8D8907F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58247F-FD55-BFF4-6174-5DE09D24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en-US" err="1"/>
              <a:t>Przykład</a:t>
            </a:r>
            <a:r>
              <a:rPr lang="en-US"/>
              <a:t>: </a:t>
            </a:r>
            <a:r>
              <a:rPr lang="en-US" dirty="0" err="1"/>
              <a:t>przypisanie</a:t>
            </a:r>
            <a:r>
              <a:rPr lang="en-US"/>
              <a:t> do </a:t>
            </a:r>
            <a:r>
              <a:rPr lang="en-US" err="1"/>
              <a:t>zmiennej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1DDEE5-BBF0-DCA2-190F-EFBD64FF8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 tym przypadku traktujemy </a:t>
            </a:r>
            <a:r>
              <a:rPr lang="pl-PL"/>
              <a:t>funkcję jak </a:t>
            </a:r>
            <a:r>
              <a:rPr lang="pl-PL" dirty="0"/>
              <a:t>zwykły „obiekt”. Nie wywołujemy jej (brak nawiasów ()), tylko wskazujemy na nią palcem</a:t>
            </a:r>
            <a:r>
              <a:rPr lang="pl-PL"/>
              <a:t>.</a:t>
            </a: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1F53A1-BCA5-D114-A51C-B84515C4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65E3645-F847-F5F6-99FA-E460B371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7A18EE22-69FD-361A-ED2F-96FD3941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224" y="3314700"/>
            <a:ext cx="6734902" cy="263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68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E3421F-9CF4-4369-5169-605BEDEA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09600"/>
            <a:ext cx="11201400" cy="1326321"/>
          </a:xfrm>
        </p:spPr>
        <p:txBody>
          <a:bodyPr/>
          <a:lstStyle/>
          <a:p>
            <a:r>
              <a:rPr lang="en-US"/>
              <a:t>2. PRZYKŁAD: </a:t>
            </a:r>
            <a:r>
              <a:rPr lang="en-US" err="1"/>
              <a:t>Przekazanie</a:t>
            </a:r>
            <a:r>
              <a:rPr lang="en-US"/>
              <a:t> </a:t>
            </a:r>
            <a:r>
              <a:rPr lang="en-US" err="1"/>
              <a:t>jako</a:t>
            </a:r>
            <a:r>
              <a:rPr lang="en-US"/>
              <a:t> ARGUMENT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1908C8-8167-B74E-E2A0-E3390C02C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To jest </a:t>
            </a:r>
            <a:r>
              <a:rPr lang="pl-PL" dirty="0"/>
              <a:t>sytuacja, w której jedna funkcja przyjmuje drugą funkcję jako „instrukcję obsługi”. To podstawa</a:t>
            </a:r>
            <a:r>
              <a:rPr lang="pl-PL"/>
              <a:t> metod takich jak map czy </a:t>
            </a:r>
            <a:r>
              <a:rPr lang="pl-PL" err="1"/>
              <a:t>filter</a:t>
            </a:r>
            <a:r>
              <a:rPr lang="pl-PL"/>
              <a:t>.</a:t>
            </a: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5DF21F2-BA54-65AD-4F50-B23633A4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E4F11B3-2480-12BF-1E80-6B232AB0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7EAFFC95-8398-32F0-8444-E067269B4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047" y="3234522"/>
            <a:ext cx="6409707" cy="29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00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0A4D99-A805-6E3E-8F1A-9EC989AF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</a:t>
            </a:r>
            <a:r>
              <a:rPr lang="en-US" err="1"/>
              <a:t>Zwrócenie</a:t>
            </a:r>
            <a:r>
              <a:rPr lang="en-US"/>
              <a:t> z </a:t>
            </a:r>
            <a:r>
              <a:rPr lang="en-US" err="1"/>
              <a:t>innej</a:t>
            </a:r>
            <a:r>
              <a:rPr lang="en-US"/>
              <a:t> </a:t>
            </a:r>
            <a:r>
              <a:rPr lang="en-US" err="1"/>
              <a:t>funkcji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06B120-46BB-0886-33B5-50313AE0D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Funkcja, która "produkuje" inne funkcje.</a:t>
            </a: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85B76C7-FBE8-1587-FEA7-158772E1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184380A-72CB-C92A-4885-0A043DE7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F5DE1979-B907-3940-E51C-C25F92CB6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045" y="2769549"/>
            <a:ext cx="4801270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80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ormuła calculus">
            <a:extLst>
              <a:ext uri="{FF2B5EF4-FFF2-40B4-BE49-F238E27FC236}">
                <a16:creationId xmlns:a16="http://schemas.microsoft.com/office/drawing/2014/main" id="{BCCBA329-57AB-18D2-797F-4248AB3704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2096" b="13659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68265BB-CB61-37E3-FBA9-EC83F46035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Metody Wyższego </a:t>
            </a:r>
            <a:r>
              <a:rPr lang="pl-PL" altLang="pl-PL" b="0" cap="none">
                <a:effectLst/>
                <a:latin typeface="-webkit-standard"/>
              </a:rPr>
              <a:t>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zędu i Wyrażenia Lambda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72C527-42D1-B7F4-3B3C-656E0E7B6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Koniec z klasycznymi pętlami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for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!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map()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transformacja danych.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filter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()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odfiltrowanie danych.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reduce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()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zredukowanie kolekcji do jednej wartości (np. sumy).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Lambda: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Szybkie, anonimowe funkcje w jednej linijce</a:t>
            </a:r>
            <a:r>
              <a:rPr kumimoji="0" lang="en-US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np.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lambda x: x * 2</a:t>
            </a:r>
            <a:endParaRPr kumimoji="0" lang="en-US" altLang="pl-PL" b="0" i="0" u="none" strike="noStrike" cap="none" normalizeH="0" baseline="0">
              <a:ln>
                <a:noFill/>
              </a:ln>
              <a:effectLst/>
              <a:latin typeface="Arial Unicode MS" panose="020B0604020202020204" pitchFamily="34" charset="-128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pl-PL">
              <a:effectLst/>
              <a:latin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4E741B8-EC03-A16F-EDFF-ED6B69B1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BF30AD-5A1F-1366-FA4F-335F9316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83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Lambda Functions in Python: Unleashing the Magic of Concise Code | by  Ernest Asena | Medium">
            <a:extLst>
              <a:ext uri="{FF2B5EF4-FFF2-40B4-BE49-F238E27FC236}">
                <a16:creationId xmlns:a16="http://schemas.microsoft.com/office/drawing/2014/main" id="{94D92A66-4767-61AB-E855-4B9D2672C3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"/>
          <a:stretch>
            <a:fillRect/>
          </a:stretch>
        </p:blipFill>
        <p:spPr bwMode="auto">
          <a:xfrm>
            <a:off x="20" y="2030"/>
            <a:ext cx="12191980" cy="685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5279F77-FAC6-0CDD-8F62-D31A2ABD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E00FFE1-B835-97A7-646D-1FD86B7F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73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1959B7-FD65-7C1A-9527-2CFF6634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DLACZEGO LAMBDA JEST KLUCZOWA?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0B65C7-1A84-E259-6D2B-A4B9FC672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b="1" dirty="0"/>
              <a:t>1</a:t>
            </a:r>
            <a:r>
              <a:rPr lang="pl-PL" sz="1400" b="1"/>
              <a:t>. Lambda – Szybka akcja</a:t>
            </a:r>
          </a:p>
          <a:p>
            <a:r>
              <a:rPr lang="pl-PL" sz="1400" b="1"/>
              <a:t>Co robi:</a:t>
            </a:r>
            <a:r>
              <a:rPr lang="pl-PL" sz="1400"/>
              <a:t> To funkcja „na raz”. Nie potrzebuje nazwy, nie potrzebuje osobnej definicji def. Służy do wykonania prostej operacji tu i teraz.</a:t>
            </a:r>
          </a:p>
          <a:p>
            <a:r>
              <a:rPr lang="pl-PL" sz="1400" b="1"/>
              <a:t>Metafora:</a:t>
            </a:r>
            <a:r>
              <a:rPr lang="pl-PL" sz="1400"/>
              <a:t> To jak karteczka samoprzylepna z krótką instrukcją („pomnóż przez 2”), którą przyklejasz na maszynę, zamiast pisać grubą książkę kucharską.</a:t>
            </a:r>
          </a:p>
          <a:p>
            <a:endParaRPr lang="en-US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8793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972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50495BB-D2B0-6A78-E2B6-CF8F648A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0AF9096-B4CF-4230-609C-16CC57B6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6A8CB74-CE84-C352-2926-347FD9072F18}"/>
              </a:ext>
            </a:extLst>
          </p:cNvPr>
          <p:cNvSpPr txBox="1"/>
          <p:nvPr/>
        </p:nvSpPr>
        <p:spPr>
          <a:xfrm>
            <a:off x="4991100" y="1066800"/>
            <a:ext cx="6276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!!! </a:t>
            </a:r>
            <a:r>
              <a:rPr lang="pl-PL" dirty="0"/>
              <a:t>Bez lambda musielibyśmy definiować osobną funkcję dla każdej drobnej operacji:</a:t>
            </a:r>
            <a:endParaRPr lang="en-US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2C486C6-9F2B-5AF3-35FA-B7917DF34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857" y="2309423"/>
            <a:ext cx="3912942" cy="278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14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6A753F-B971-FC7C-3498-B3D33FE8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MAP()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6E329A-E746-770F-EC99-D156D4F79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b="1" dirty="0"/>
              <a:t>2</a:t>
            </a:r>
            <a:r>
              <a:rPr lang="pl-PL" sz="1400" b="1"/>
              <a:t>. map() – Transformator</a:t>
            </a:r>
          </a:p>
          <a:p>
            <a:r>
              <a:rPr lang="pl-PL" sz="1400" b="1"/>
              <a:t>Co robi:</a:t>
            </a:r>
            <a:r>
              <a:rPr lang="pl-PL" sz="1400"/>
              <a:t> Bierze każdy element z listy i coś z nim robi (np. podwaja, zamienia na wielkie litery).</a:t>
            </a:r>
          </a:p>
          <a:p>
            <a:r>
              <a:rPr lang="pl-PL" sz="1400" b="1"/>
              <a:t>Metafora:</a:t>
            </a:r>
            <a:r>
              <a:rPr lang="pl-PL" sz="1400"/>
              <a:t> Masz koszyk surowych jabłek, przepuszczasz je przez </a:t>
            </a:r>
            <a:r>
              <a:rPr lang="pl-PL" sz="1400" dirty="0"/>
              <a:t>map(obieraczka)</a:t>
            </a:r>
            <a:r>
              <a:rPr lang="pl-PL" sz="1400"/>
              <a:t> i dostajesz koszyk obranych jabłek. Liczba elementów się nie zmienia, zmienia się ich stan.</a:t>
            </a:r>
          </a:p>
          <a:p>
            <a:endParaRPr lang="en-US" sz="140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0BDCD6-0E01-7B72-FFDF-581A6E1D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95064C-A9A7-4445-0148-279DF77D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7170" name="Picture 2" descr="From Basics to ML Models: Unraveling the Power of Python's map Function |  by Reza Shokrzad | Medium">
            <a:extLst>
              <a:ext uri="{FF2B5EF4-FFF2-40B4-BE49-F238E27FC236}">
                <a16:creationId xmlns:a16="http://schemas.microsoft.com/office/drawing/2014/main" id="{64E12634-0056-69D6-4ABF-2A1D8A418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0931" y="2301975"/>
            <a:ext cx="5895257" cy="228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666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696249-5043-7C5C-D400-31D1B495F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FILTER()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4B87E4-6724-F63E-47AA-683A964B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b="1" dirty="0"/>
              <a:t>3</a:t>
            </a:r>
            <a:r>
              <a:rPr lang="pl-PL" sz="1400" b="1"/>
              <a:t>. </a:t>
            </a:r>
            <a:r>
              <a:rPr lang="pl-PL" sz="1400" b="1" err="1"/>
              <a:t>filter</a:t>
            </a:r>
            <a:r>
              <a:rPr lang="pl-PL" sz="1400" b="1"/>
              <a:t>() – Sito</a:t>
            </a:r>
          </a:p>
          <a:p>
            <a:r>
              <a:rPr lang="pl-PL" sz="1400" b="1"/>
              <a:t>Co robi:</a:t>
            </a:r>
            <a:r>
              <a:rPr lang="pl-PL" sz="1400"/>
              <a:t> Sprawdza każdy element pod kątem konkretnego warunku (Prawda/Fałsz) i zostawia tylko te, które go spełniają.</a:t>
            </a:r>
          </a:p>
          <a:p>
            <a:r>
              <a:rPr lang="pl-PL" sz="1400" b="1"/>
              <a:t>Metafora:</a:t>
            </a:r>
            <a:r>
              <a:rPr lang="pl-PL" sz="1400"/>
              <a:t> Przesiewasz piasek przez sito – zostają tylko duże kamienie, a reszta odpada. Wynikowa lista jest zazwyczaj krótsza niż oryginał</a:t>
            </a:r>
          </a:p>
          <a:p>
            <a:endParaRPr lang="en-US" sz="140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1FDAC0D-85A2-B445-AACD-010BB7D6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EFD5783-BF3F-837D-F22A-62E299CB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8196" name="Picture 4" descr="Python filter and filterfalse functions guide - MyBlueLinux.com">
            <a:extLst>
              <a:ext uri="{FF2B5EF4-FFF2-40B4-BE49-F238E27FC236}">
                <a16:creationId xmlns:a16="http://schemas.microsoft.com/office/drawing/2014/main" id="{357354D1-E447-F381-4973-2D6A3A101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2718" y="1151910"/>
            <a:ext cx="4711682" cy="458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469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4BC5E8-849D-2F0A-4E6E-E1CC9773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anchor="b">
            <a:normAutofit/>
          </a:bodyPr>
          <a:lstStyle/>
          <a:p>
            <a:pPr algn="l"/>
            <a:r>
              <a:rPr lang="en-US" sz="2400"/>
              <a:t>REDUCE()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CA1F13-48B1-82B4-E21A-8B26D6A81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096063"/>
            <a:ext cx="3361498" cy="4028512"/>
          </a:xfrm>
        </p:spPr>
        <p:txBody>
          <a:bodyPr>
            <a:normAutofit/>
          </a:bodyPr>
          <a:lstStyle/>
          <a:p>
            <a:r>
              <a:rPr lang="en-US" sz="1400" b="1" dirty="0"/>
              <a:t>4</a:t>
            </a:r>
            <a:r>
              <a:rPr lang="pl-PL" sz="1400" b="1"/>
              <a:t>. </a:t>
            </a:r>
            <a:r>
              <a:rPr lang="pl-PL" sz="1400" b="1" err="1"/>
              <a:t>reduce</a:t>
            </a:r>
            <a:r>
              <a:rPr lang="pl-PL" sz="1400" b="1"/>
              <a:t>() – Zgniatarka</a:t>
            </a:r>
          </a:p>
          <a:p>
            <a:r>
              <a:rPr lang="pl-PL" sz="1400" b="1"/>
              <a:t>Co robi:</a:t>
            </a:r>
            <a:r>
              <a:rPr lang="pl-PL" sz="1400"/>
              <a:t> Bierze całą listę i „składa” ją w jedną, pojedynczą wartość (np. sumuje wszystkie liczby albo znajduje najdłuższą nazwę).</a:t>
            </a:r>
          </a:p>
          <a:p>
            <a:r>
              <a:rPr lang="pl-PL" sz="1400" b="1"/>
              <a:t>Metafora:</a:t>
            </a:r>
            <a:r>
              <a:rPr lang="pl-PL" sz="1400"/>
              <a:t> Bierzesz stertę klocków LEGO i budujesz z nich jeden dom. Z wielu elementów powstaje jeden konkretny wynik.</a:t>
            </a:r>
          </a:p>
          <a:p>
            <a:endParaRPr lang="en-US" sz="140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CF244FF-18BB-58CB-94C5-6C8E1F2C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4" y="6309360"/>
            <a:ext cx="667286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C148AF1-44D3-5F79-3CF1-49A8EADA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09360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pic>
        <p:nvPicPr>
          <p:cNvPr id="9218" name="Picture 2" descr="Python reduce() function | Board Infinity">
            <a:extLst>
              <a:ext uri="{FF2B5EF4-FFF2-40B4-BE49-F238E27FC236}">
                <a16:creationId xmlns:a16="http://schemas.microsoft.com/office/drawing/2014/main" id="{9E986810-2373-09C5-E2CE-BC5EA6720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0931" y="1786140"/>
            <a:ext cx="5895257" cy="3316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478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FFF4E5-9B4B-971D-7A14-E637BFE5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PRZYKŁAD Z KODU</a:t>
            </a: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13C9431-A118-5719-ED21-B38F24A2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F1BDCC8-AA81-6E1B-786E-B8F19252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BE77C368-3D38-C4A9-2E33-C76FD200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275" y="1710100"/>
            <a:ext cx="4558637" cy="3905795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629F0194-C029-D842-0A50-B2B8AC7DC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45" y="1710101"/>
            <a:ext cx="6487430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75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Kolorowe numery PIN połączone z wątkiem">
            <a:extLst>
              <a:ext uri="{FF2B5EF4-FFF2-40B4-BE49-F238E27FC236}">
                <a16:creationId xmlns:a16="http://schemas.microsoft.com/office/drawing/2014/main" id="{39537CB5-EDE8-0FAD-1FE1-A89F4F6242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b="15755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54AF27D-DB47-9543-E492-C06126BA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0">
                <a:effectLst/>
              </a:rPr>
              <a:t>Rekurencja i </a:t>
            </a:r>
            <a:r>
              <a:rPr lang="pl-PL" b="0" err="1">
                <a:effectLst/>
              </a:rPr>
              <a:t>Chaining</a:t>
            </a:r>
            <a:endParaRPr lang="pl-PL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C4DAAA3-4518-590B-A615-3636EC1DE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Rekurencja: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Funkcja wywołująca samą siebie (alternatywa dla pętli iteracyjnych 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while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).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Chaining</a:t>
            </a: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Łączenie operacji w czytelny ciąg.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Przykład w </a:t>
            </a:r>
            <a:r>
              <a:rPr kumimoji="0" lang="pl-PL" altLang="pl-PL" b="0" i="1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Pythonie</a:t>
            </a:r>
            <a:r>
              <a:rPr kumimoji="0" lang="pl-PL" altLang="pl-PL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Złożenie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map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 </a:t>
            </a:r>
            <a:r>
              <a:rPr kumimoji="0" lang="pl-PL" altLang="pl-PL" b="0" i="0" u="none" strike="noStrike" cap="none" normalizeH="0" baseline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filter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 jedną instrukcję lub użycie tzw. </a:t>
            </a:r>
            <a:r>
              <a:rPr kumimoji="0" lang="pl-PL" altLang="pl-PL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List </a:t>
            </a:r>
            <a:r>
              <a:rPr kumimoji="0" lang="pl-PL" altLang="pl-PL" b="0" i="1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Comprehension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D7830EB-CB93-2735-2730-8F75A12F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DC34581-DDAC-0C48-AF48-4B7F8D1BAEC9}" type="datetime1">
              <a:rPr lang="en-US" smtClean="0"/>
              <a:pPr>
                <a:spcAft>
                  <a:spcPts val="600"/>
                </a:spcAft>
              </a:pPr>
              <a:t>3/17/26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4BF0FAC-BA97-1C40-8F6C-738B8A20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D23E0B-37BB-BE6D-4869-6E2B2D63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79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19AB5A-121F-BE19-6642-76C5AB1D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REKURENCJA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FCE9827-421E-20E5-BD75-D84364455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>
                <a:effectLst/>
              </a:rPr>
              <a:t>Rekurencja w </a:t>
            </a:r>
            <a:r>
              <a:rPr lang="pl-PL" err="1">
                <a:effectLst/>
              </a:rPr>
              <a:t>Pythonie</a:t>
            </a:r>
            <a:r>
              <a:rPr lang="pl-PL">
                <a:effectLst/>
              </a:rPr>
              <a:t> to </a:t>
            </a:r>
            <a:r>
              <a:rPr lang="pl-PL"/>
              <a:t>technika, w której funkcja wywołuje samą siebie w celu rozwiązania problemu, dzieląc go na mniejsze, identyczne </a:t>
            </a:r>
            <a:r>
              <a:rPr lang="pl-PL" err="1"/>
              <a:t>podproblemy</a:t>
            </a:r>
            <a:r>
              <a:rPr lang="pl-PL">
                <a:effectLst/>
              </a:rPr>
              <a:t>. Kluczowe elementy to </a:t>
            </a:r>
            <a:r>
              <a:rPr lang="pl-PL" b="1">
                <a:effectLst/>
              </a:rPr>
              <a:t>przypadek bazowy</a:t>
            </a:r>
            <a:r>
              <a:rPr lang="pl-PL">
                <a:effectLst/>
              </a:rPr>
              <a:t> (warunek stopu, zapobiegający nieskończonej pętli) oraz </a:t>
            </a:r>
            <a:r>
              <a:rPr lang="pl-PL" b="1">
                <a:effectLst/>
              </a:rPr>
              <a:t>krok rekurencyjny</a:t>
            </a:r>
            <a:r>
              <a:rPr lang="pl-PL">
                <a:effectLst/>
              </a:rPr>
              <a:t>. Pozwala na eleganckie algorytmy (np. silnia, Fibonacciego), ale zużywa więcej pamięci. </a:t>
            </a:r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110A3B6-08DF-C450-9437-5F8259E9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380D745-5BAA-96D2-F404-9FC3870E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52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149D1A-C024-122C-562F-296BAF99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 </a:t>
            </a:r>
            <a:r>
              <a:rPr lang="en-US" dirty="0"/>
              <a:t>(CZYSTEJ) </a:t>
            </a:r>
            <a:r>
              <a:rPr lang="pl-PL"/>
              <a:t>rekurencji w </a:t>
            </a:r>
            <a:r>
              <a:rPr lang="pl-PL" err="1"/>
              <a:t>python</a:t>
            </a:r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419EFA7-4CA3-7F3E-DA64-452A0620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38DF505-F898-36E8-A7CD-420FC172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FEE3D744-59E1-5587-76A4-CC6AF655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353" y="2765839"/>
            <a:ext cx="7105293" cy="132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99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Łańcuchy czarne">
            <a:extLst>
              <a:ext uri="{FF2B5EF4-FFF2-40B4-BE49-F238E27FC236}">
                <a16:creationId xmlns:a16="http://schemas.microsoft.com/office/drawing/2014/main" id="{B05D8693-FC09-229C-E579-2E3A91D03C0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t="13518" b="11001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B57472B8-E450-EC80-988C-DBDE3FE64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CHAINING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DBC8F8-39E3-064E-6448-1846B822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1599849-F230-6902-B151-B7A2A9E0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E4DE196-8A13-4FF7-A07E-102851959EAB}" type="slidenum">
              <a:rPr lang="en-US" smtClean="0"/>
              <a:pPr defTabSz="914400">
                <a:spcAft>
                  <a:spcPts val="600"/>
                </a:spcAft>
              </a:pPr>
              <a:t>25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17FAD1D-ADB8-FBBF-C0CA-44E5EF071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795" y="2096064"/>
            <a:ext cx="10353762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(</a:t>
            </a:r>
            <a:r>
              <a:rPr lang="en-US" altLang="pl-PL" dirty="0" err="1"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Ł</a:t>
            </a:r>
            <a:r>
              <a:rPr kumimoji="0" lang="en-US" altLang="pl-PL" b="0" i="0" u="none" strike="noStrike" cap="none" normalizeH="0" baseline="0" dirty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ańcuchowanie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) to 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technika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programowania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polegająca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na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wywoływaniu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wielu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metod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kolejno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po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sobie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na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tym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samym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obiekcie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w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jednej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linijce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kodu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,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gdzie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każda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metoda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zwraca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obiekt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,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na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którym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operuje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kolejna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.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Pozwala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to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pominąć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tworzenie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tymczasowych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zmiennych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pośrednich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,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dzięki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czemu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kod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jest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bardziej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zwięzły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i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 </a:t>
            </a:r>
            <a:r>
              <a:rPr kumimoji="0" lang="en-US" altLang="pl-PL" b="0" i="0" u="none" strike="noStrike" cap="none" normalizeH="0" baseline="0" err="1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czytelny</a:t>
            </a:r>
            <a: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  <a:t>. </a:t>
            </a:r>
            <a:br>
              <a:rPr kumimoji="0" lang="en-US" altLang="pl-PL" b="0" i="0" u="none" strike="noStrike" cap="none" normalizeH="0" baseline="0">
                <a:ln>
                  <a:noFill/>
                </a:ln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</a:rPr>
            </a:br>
            <a:endParaRPr kumimoji="0" lang="en-US" altLang="pl-PL" b="0" i="0" u="none" strike="noStrike" cap="none" normalizeH="0" baseline="0" dirty="0">
              <a:ln>
                <a:noFill/>
              </a:ln>
              <a:effectLst>
                <a:outerShdw blurRad="50800" dist="38100" dir="2700000" algn="tl" rotWithShape="0">
                  <a:srgbClr val="000000">
                    <a:alpha val="48000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8545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4F0766-DA77-ABAD-5487-B0846B68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PRZYKŁAD Łańcuchowania 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421CEF1-3B26-5EFF-BA2F-053C472C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768AA43-C325-293E-3548-7569743C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5B1AE76-753B-28CB-6F5C-0933F8CF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840" y="1840259"/>
            <a:ext cx="6095670" cy="2590949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149D2BEC-31E7-243C-AD59-31FE62D27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591" y="4978142"/>
            <a:ext cx="6030167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84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9367DC-60E8-AD2C-9703-20560A5C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EBAC07-A3AB-E000-4514-E64716FBA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>
                <a:hlinkClick r:id="rId2"/>
              </a:rPr>
              <a:t>https://semcore.pl/jakie-sa-roznice-pomiedzy-programowaniem-funkcyjnym-a-obiektowym/</a:t>
            </a:r>
            <a:endParaRPr lang="en-US"/>
          </a:p>
          <a:p>
            <a:r>
              <a:rPr lang="pl-PL">
                <a:hlinkClick r:id="rId3"/>
              </a:rPr>
              <a:t>https://medium.com/@reza.shokrzad/from-basics-to-ml-models-unraveling-the-power-of-pythons-map-function-170da0697f42</a:t>
            </a:r>
            <a:endParaRPr lang="en-US"/>
          </a:p>
          <a:p>
            <a:r>
              <a:rPr lang="pl-PL">
                <a:hlinkClick r:id="rId4"/>
              </a:rPr>
              <a:t>https://www.boardinfinity.com/blog/python-reduce-function/</a:t>
            </a:r>
            <a:endParaRPr lang="en-US"/>
          </a:p>
          <a:p>
            <a:r>
              <a:rPr lang="pl-PL">
                <a:hlinkClick r:id="rId5"/>
              </a:rPr>
              <a:t>https://techvidvan.com/tutorials/lambda-expression-in-python/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CE252A-D0EB-830E-DDE4-DB400341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412EC9E-449C-17E7-3118-8DDC9EB8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23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9637C0D-C191-2AE3-8245-6F8CEBE64B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29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70F989F-88A3-9FE0-B07F-9082DA3F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0">
                <a:effectLst/>
              </a:rPr>
              <a:t>Podsumowanie</a:t>
            </a:r>
            <a:endParaRPr lang="pl-PL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5C70918-076B-4FE8-E66D-789831E6C9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Programowanie funkcyjne to mniej błędów i łatwiejsze testowanie.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Unikaj mutowania stanu – twórz kopie!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Używaj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map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,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filter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,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reduce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lambda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</a:rPr>
              <a:t> 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tam, gdzie to ma sens.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Q&amp;A</a:t>
            </a: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– Czas na Wasze pytania.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Dziękujemy za uwagę!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75DA7D6-3353-C906-4965-F6874FC0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6D7239D-79CE-AB08-88FB-FB8A77351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41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Notatki programu Sticky Notes ze znakami zapytania">
            <a:extLst>
              <a:ext uri="{FF2B5EF4-FFF2-40B4-BE49-F238E27FC236}">
                <a16:creationId xmlns:a16="http://schemas.microsoft.com/office/drawing/2014/main" id="{1E9BF64B-A43F-0B5F-4B4A-80F4BD5436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t="10570" b="5185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2920525-9A7C-257A-DF6D-60B694BAF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Czas na Quiz! </a:t>
            </a:r>
            <a:endParaRPr kumimoji="0" lang="pl-PL" altLang="pl-PL" sz="2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pl-PL" altLang="pl-PL" sz="2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pl-PL" altLang="pl-PL" sz="2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417B207-8CD6-66D3-5D13-43609E71E1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Przygotowaliśmy 5 pytań testowych.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Wejdźcie na stronę kursu na UPEL.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Powodzenia!</a:t>
            </a: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D1F964F-0D4F-6F71-5D3E-F0A3A642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D26CC0C-8C80-C3C1-3670-E7FEBC9B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7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25A7B426-31C8-D706-D8E2-34AD3B1FF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Część Praktyczna – Warsztaty na GitHubie </a:t>
            </a:r>
            <a:endParaRPr kumimoji="0" lang="pl-PL" altLang="pl-PL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441D3A7-4201-74B9-D224-9E5960DC2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6850" y="2463800"/>
            <a:ext cx="9247652" cy="3327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Zadanie: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Refaktoryzacja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"brudnego" kodu imperatywnego na czysty kod funkcyjny w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Pythonie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Kroki:</a:t>
            </a: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1.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Wejdźcie na: </a:t>
            </a:r>
            <a:r>
              <a:rPr lang="pl-PL" altLang="pl-PL" dirty="0">
                <a:effectLst/>
                <a:latin typeface="Arial" panose="020B0604020202020204" pitchFamily="34" charset="0"/>
              </a:rPr>
              <a:t>https://github.com/wowerro67</a:t>
            </a:r>
            <a:r>
              <a:rPr lang="pl-PL" altLang="pl-PL">
                <a:effectLst/>
                <a:latin typeface="Arial" panose="020B0604020202020204" pitchFamily="34" charset="0"/>
              </a:rPr>
              <a:t>/JPWP Skopiujcie 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pliki z zadaniami.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2.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Szukajcie komentarzy: 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# TODO: Zamień na podejście funkcyjne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005AAE-0FF7-714F-E980-ABA93C5E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66851" y="5883275"/>
            <a:ext cx="5314949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55039DC-F86C-D90C-31C7-CE58A64F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08375" y="5883275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4DE196-8A13-4FF7-A07E-102851959EAB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555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6 Proprietary and Confidential. All Rights Reserved.&quot;,&quot;palette_name&quot;:&quot;custom&quot;,&quot;defaultSlideColor&quot;:&quot;theme&quot;,&quot;defaultBackgroundColor&quot;:&quot;0f346dc6-d9c2-497b-98ac-3653c1d96164&quot;,&quot;styleFonts&quot;:1,&quot;styleFontWeight&quot;:&quot;heavy&quot;,&quot;styleElementStyle&quot;:&quot;outlined&quot;,&quot;styleEffect&quot;:&quot;none&quot;,&quot;styleDesign&quot;:1,&quot;styleDecoration&quot;:&quot;none_left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defaultSlides&quot;:{&quot;section&quot;:&quot;{\&quot;textStylesVersion\&quot;:2,\&quot;layout\&quot;:{\&quot;backgroundStyle\&quot;:\&quot;backgroundGradient\&quot;,\&quot;backgroundColor\&quot;:\&quot;7e6541ed-4b75-4b08-871f-e798d4102f7a\&quot;},\&quot;states\&quot;:[{\&quot;primary\&quot;:{\&quot;text\&quot;:{\&quot;blocks\&quot;:[{\&quot;type\&quot;:\&quot;text\&quot;,\&quot;html\&quot;:\&quot;Section 1\&quot;,\&quot;textStyle\&quot;:\&quot;label\&quot;,\&quot;id\&quot;:\&quot;794d2c73-e89a-46f7-99ed-59d3b2bc2360\&quot;,\&quot;indent\&quot;:0,\&quot;blockBounds\&quot;:{\&quot;left\&quot;:0,\&quot;top\&quot;:-4.734375,\&quot;width\&quot;:439,\&quot;height\&quot;:22.90625},\&quot;textStyles\&quot;:{\&quot;fontFamily\&quot;:\&quot;satoshi\&quot;,\&quot;baseFontSize\&quot;:20,\&quot;fontColor\&quot;:\&quot;primary\&quot;,\&quot;bulletScale\&quot;:1,\&quot;bulletSpacing\&quot;:2.5,\&quot;bulletIndent\&quot;:50,\&quot;fontScaling\&quot;:100,\&quot;fontWeight\&quot;:900,\&quot;letterSpacing\&quot;:\&quot;-0.06em\&quot;,\&quot;lineHeight\&quot;:1.1455999755859376,\&quot;textTransform\&quot;:\&quot;none\&quot;,\&quot;spaceBelow\&quot;:0,\&quot;spaceAbove\&quot;:0,\&quot;blockSpacing\&quot;:30,\&quot;maxLines\&quot;:9999,\&quot;evenBreak\&quot;:false,\&quot;listDecorationStyle\&quot;:\&quot;theme\&quot;,\&quot;allowFancyNumberedDecorations\&quot;:false,\&quot;hasEmphasized\&quot;:false,\&quot;blockInset\&quot;:0,\&quot;isRTL\&quot;:false,\&quot;fontScale\&quot;:1,\&quot;fontSize\&quot;:20,\&quot;textAlign\&quot;:\&quot;center\&quot;,\&quot;color\&quot;:\&quot;rgb(255, 255, 255)\&quot;,\&quot;emphasizedColor\&quot;:\&quot;rgb(255, 255, 255)\&quot;,\&quot;hyperlinkColor\&quot;:\&quot;rgb(0, 159, 162)\&quot;},\&quot;blockMargin\&quot;:{\&quot;top\&quot;:-4.73600006103516,\&quot;bottom\&quot;:0,\&quot;left\&quot;:0,\&quot;right\&quot;:0},\&quot;topSpace\&quot;:4.73600006103516,\&quot;bottomSpace\&quot;:3.8559997558593757},{\&quot;id\&quot;:\&quot;57fdbf62-6c9b-4667-aaa8-3976a1f75278\&quot;,\&quot;type\&quot;:\&quot;text\&quot;,\&quot;textStyle\&quot;:\&quot;headline\&quot;,\&quot;html\&quot;:\&quot;\&quot;,\&quot;indent\&quot;:0,\&quot;blockBounds\&quot;:{\&quot;left\&quot;:0,\&quot;top\&quot;:29.234375,\&quot;width\&quot;:439,\&quot;height\&quot;:80.546875},\&quot;textStyles\&quot;:{\&quot;fontFamily\&quot;:\&quot;satoshi\&quot;,\&quot;baseFontSize\&quot;:75,\&quot;fontColor\&quot;:\&quot;primary\&quot;,\&quot;bulletScale\&quot;:1,\&quot;bulletSpacing\&quot;:2.5,\&quot;bulletIndent\&quot;:50,\&quot;fontScaling\&quot;:100,\&quot;fontWeight\&quot;:900,\&quot;letterSpacing\&quot;:\&quot;-0.06em\&quot;,\&quot;lineHeight\&quot;:1.0739999771118165,\&quot;textTransform\&quot;:\&quot;none\&quot;,\&quot;spaceBelow\&quot;:0,\&quot;spaceAbove\&quot;:0,\&quot;blockSpacing\&quot;:30,\&quot;maxLines\&quot;:9999,\&quot;evenBreak\&quot;:true,\&quot;listDecorationStyle\&quot;:\&quot;theme\&quot;,\&quot;allowFancyNumberedDecorations\&quot;:false,\&quot;hasEmphasized\&quot;:false,\&quot;blockInset\&quot;:0,\&quot;isRTL\&quot;:false,\&quot;fontScale\&quot;:1,\&quot;fontSize\&quot;:75,\&quot;textAlign\&quot;:\&quot;center\&quot;,\&quot;color\&quot;:\&quot;rgb(255, 255, 255)\&quot;,\&quot;emphasizedColor\&quot;:\&quot;rgb(0, 159, 162)\&quot;,\&quot;hyperlinkColor\&quot;:\&quot;rgb(0, 159, 162)\&quot;,\&quot;boldStyles\&quot;:{\&quot;fontColor\&quot;:\&quot;slide\&quot;},\&quot;accentColor\&quot;:\&quot;theme\&quot;},\&quot;blockMargin\&quot;:{\&quot;top\&quot;:11.068999958038315,\&quot;bottom\&quot;:-11.774999141693101,\&quot;left\&quot;:0,\&quot;right\&quot;:0},\&quot;topSpace\&quot;:15.07500028610231,\&quot;bottomSpace\&quot;:11.774999141693101,\&quot;hyphenation\&quot;:false,\&quot;ligatures\&quot;:true,\&quot;accentColor\&quot;:\&quot;theme\&quot;}]},\&quot;backdropPadding\&quot;:30,\&quot;verticalAlign\&quot;:\&quot;middle\&quot;,\&quot;accentColor\&quot;:\&quot;theme\&quot;,\&quot;headlinePosition\&quot;:\&quot;right\&quot;,\&quot;items\&quot;:[{\&quot;componentType\&quot;:\&quot;TextAndImage\&quot;,\&quot;childElement\&quot;:{\&quot;content_type\&quot;:\&quot;image\&quot;,\&quot;assetProps\&quot;:{\&quot;originalSize\&quot;:{\&quot;width\&quot;:926,\&quot;height\&quot;:926}},\&quot;assetName\&quot;:\&quot;iso rocket dashboard\&quot;,\&quot;content_value\&quot;:\&quot;43aa612d6c5a749f9eb821f0677c1c6b543619f14c01ded91327f4f1039dfbd9-I\&quot;,\&quot;flipHorizontal\&quot;:false,\&quot;mediaOpacity\&quot;:1,\&quot;aoiLeft\&quot;:0,\&quot;aoiRight\&quot;:926,\&quot;aoiTop\&quot;:28.118916744872024,\&quot;aoiBottom\&quot;:897.881083255128,\&quot;scale\&quot;:0.712838548137388,\&quot;version\&quot;:1,\&quot;assetWidth\&quot;:926,\&quot;assetHeight\&quot;:926,\&quot;isDefaultTransform\&quot;:true},\&quot;id\&quot;:\&quot;cf59a587-a5c5-4b84-8c0e-bdcf1b5374be\&quot;}],\&quot;gridLayout\&quot;:{\&quot;cols\&quot;:12,\&quot;rows\&quot;:12,\&quot;cells\&quot;:[{\&quot;x\&quot;:0,\&quot;y\&quot;:0,\&quot;width\&quot;:12,\&quot;height\&quot;:12}]},\&quot;dividerSize\&quot;:0.44060296985150743},\&quot;callouts\&quot;:{\&quot;elements\&quot;:[],\&quot;collectionColor\&quot;:\&quot;theme\&quot;,\&quot;snapToGrid\&quot;:false,\&quot;connections\&quot;:{\&quot;items\&quot;:[],\&quot;collectionColor\&quot;:\&quot;theme\&quot;}}}],\&quot;animations\&quot;:{},\&quot;template_id\&quot;:\&quot;section\&quot;,\&quot;migrationVersion\&quot;:10.03,\&quot;version\&quot;:10}&quot;,&quot;title&quot;:&quot;{\&quot;textStylesVersion\&quot;:2,\&quot;layout\&quot;:{},\&quot;states\&quot;:[{\&quot;primary\&quot;:{\&quot;showFooter\&quot;:false,\&quot;text\&quot;:{\&quot;blocks\&quot;:[{\&quot;id\&quot;:\&quot;79ebc938-56d4-4f6b-8b14-c3ddeced18d8\&quot;,\&quot;html\&quot;:\&quot;\&quot;,\&quot;type\&quot;:\&quot;text\&quot;,\&quot;textStyle\&quot;:\&quot;label\&quot;,\&quot;indent\&quot;:0,\&quot;blockBounds\&quot;:{\&quot;left\&quot;:0,\&quot;top\&quot;:-5.4453125,\&quot;width\&quot;:604.8828125,\&quot;height\&quot;:26.34375},\&quot;textStyles\&quot;:{\&quot;fontFamily\&quot;:\&quot;satoshi\&quot;,\&quot;baseFontSize\&quot;:23,\&quot;fontColor\&quot;:\&quot;secondary\&quot;,\&quot;bulletScale\&quot;:1,\&quot;bulletSpacing\&quot;:2.5,\&quot;bulletIndent\&quot;:50,\&quot;fontScaling\&quot;:100,\&quot;fontWeight\&quot;:900,\&quot;letterSpacing\&quot;:\&quot;-0.06em\&quot;,\&quot;lineHeight\&quot;:1.1455999755859374,\&quot;textTransform\&quot;:\&quot;uppercase\&quot;,\&quot;spaceBelow\&quot;:0,\&quot;spaceAbove\&quot;:0,\&quot;blockSpacing\&quot;:40,\&quot;maxLines\&quot;:9999,\&quot;evenBreak\&quot;:false,\&quot;listDecorationStyle\&quot;:\&quot;theme\&quot;,\&quot;allowFancyNumberedDecorations\&quot;:false,\&quot;hasEmphasized\&quot;:false,\&quot;blockInset\&quot;:0,\&quot;isRTL\&quot;:false,\&quot;fontScale\&quot;:1,\&quot;fontSize\&quot;:23,\&quot;textAlign\&quot;:\&quot;left\&quot;,\&quot;color\&quot;:\&quot;rgba(255, 255, 255, 0.8)\&quot;,\&quot;emphasizedColor\&quot;:\&quot;rgb(255, 255, 255)\&quot;,\&quot;hyperlinkColor\&quot;:\&quot;rgb(0, 159, 162)\&quot;},\&quot;blockMargin\&quot;:{\&quot;top\&quot;:-5.44640007019043,\&quot;bottom\&quot;:0,\&quot;left\&quot;:0,\&quot;right\&quot;:0},\&quot;topSpace\&quot;:5.44640007019043,\&quot;bottomSpace\&quot;:4.434399719238279},{\&quot;id\&quot;:\&quot;b51274db-7837-4e11-9028-9b1d51530dc2\&quot;,\&quot;type\&quot;:\&quot;text\&quot;,\&quot;html\&quot;:\&quot;\&quot;,\&quot;textStyle\&quot;:\&quot;heading\&quot;,\&quot;indent\&quot;:0,\&quot;blockBounds\&quot;:{\&quot;left\&quot;:0,\&quot;top\&quot;:35.1484375,\&quot;width\&quot;:470.4375,\&quot;height\&quot;:206.203125},\&quot;textStyles\&quot;:{\&quot;fontFamily\&quot;:\&quot;satoshi\&quot;,\&quot;baseFontSize\&quot;:90,\&quot;fontColor\&quot;:\&quot;primary\&quot;,\&quot;bulletScale\&quot;:1,\&quot;bulletSpacing\&quot;:2.5,\&quot;bulletIndent\&quot;:50,\&quot;fontScaling\&quot;:100,\&quot;fontWeight\&quot;:900,\&quot;letterSpacing\&quot;:\&quot;-0.06em\&quot;,\&quot;lineHeight\&quot;:1.1455999755859376,\&quot;textTransform\&quot;:\&quot;none\&quot;,\&quot;spaceBelow\&quot;:0,\&quot;spaceAbove\&quot;:0,\&quot;blockSpacing\&quot;:40,\&quot;boldStyles\&quot;:{\&quot;fontColor\&quot;:\&quot;slide\&quot;},\&quot;maxLines\&quot;:9999,\&quot;evenBreak\&quot;:true,\&quot;listDecorationStyle\&quot;:\&quot;theme\&quot;,\&quot;allowFancyNumberedDecorations\&quot;:false,\&quot;hasEmphasized\&quot;:false,\&quot;blockInset\&quot;:0,\&quot;isRTL\&quot;:false,\&quot;fontScale\&quot;:1,\&quot;fontSize\&quot;:90,\&quot;textAlign\&quot;:\&quot;left\&quot;,\&quot;color\&quot;:\&quot;rgb(255, 255, 255)\&quot;,\&quot;emphasizedColor\&quot;:\&quot;rgb(0, 159, 162)\&quot;,\&quot;hyperlinkColor\&quot;:\&quot;rgb(0, 159, 162)\&quot;,\&quot;accentColor\&quot;:\&quot;theme\&quot;},\&quot;blockMargin\&quot;:{\&quot;top\&quot;:14.253600006103511,\&quot;bottom\&quot;:0,\&quot;left\&quot;:0,\&quot;right\&quot;:0},\&quot;topSpace\&quot;:21.31200027465821,\&quot;bottomSpace\&quot;:17.351998901367196,\&quot;hyphenation\&quot;:false,\&quot;ligatures\&quot;:true,\&quot;fontScale\&quot;:1},{\&quot;id\&quot;:\&quot;1c89190c-524b-40c7-9d23-ccc28e975a48\&quot;,\&quot;type\&quot;:\&quot;text\&quot;,\&quot;html\&quot;:\&quot;\&quot;,\&quot;textStyle\&quot;:\&quot;body\&quot;,\&quot;indent\&quot;:0,\&quot;blockBounds\&quot;:{\&quot;left\&quot;:0,\&quot;top\&quot;:255.0859375,\&quot;width\&quot;:604.8828125,\&quot;height\&quot;:37.796875},\&quot;textStyles\&quot;:{\&quot;fontFamily\&quot;:\&quot;dmmono\&quot;,\&quot;baseFontSize\&quot;:27,\&quot;fontColor\&quot;:\&quot;secondary\&quot;,\&quot;bulletScale\&quot;:1,\&quot;bulletSpacing\&quot;:2.5,\&quot;bulletIndent\&quot;:50,\&quot;fontScaling\&quot;:100,\&quot;fontWeight\&quot;:400,\&quot;letterSpacing\&quot;:\&quot;-0.02em\&quot;,\&quot;lineHeight\&quot;:1.4,\&quot;textTransform\&quot;:\&quot;none\&quot;,\&quot;spaceBelow\&quot;:0,\&quot;spaceAbove\&quot;:0,\&quot;blockSpacing\&quot;:40,\&quot;boldStyles\&quot;:{\&quot;fontColor\&quot;:\&quot;primary\&quot;},\&quot;maxLines\&quot;:9999,\&quot;evenBreak\&quot;:false,\&quot;listDecorationStyle\&quot;:\&quot;theme\&quot;,\&quot;allowFancyNumberedDecorations\&quot;:false,\&quot;hasEmphasized\&quot;:false,\&quot;blockInset\&quot;:0,\&quot;isRTL\&quot;:false,\&quot;fontScale\&quot;:1,\&quot;fontSize\&quot;:27,\&quot;textAlign\&quot;:\&quot;left\&quot;,\&quot;color\&quot;:\&quot;rgba(255, 255, 255, 0.8)\&quot;,\&quot;emphasizedColor\&quot;:\&quot;rgb(255, 255, 255)\&quot;,\&quot;hyperlinkColor\&quot;:\&quot;rgb(0, 159, 162)\&quot;},\&quot;blockMargin\&quot;:{\&quot;top\&quot;:13.738001098632804,\&quot;bottom\&quot;:-9.989999999999998,\&quot;left\&quot;:0,\&quot;right\&quot;:0},\&quot;topSpace\&quot;:8.91,\&quot;bottomSpace\&quot;:9.989999999999998}]},\&quot;textAlign\&quot;:\&quot;left\&quot;,\&quot;verticalAlign\&quot;:\&quot;top\&quot;,\&quot;accentColor\&quot;:\&quot;theme\&quot;,\&quot;image\&quot;:{\&quot;content_type\&quot;:\&quot;image\&quot;,\&quot;assetProps\&quot;:{\&quot;originalSize\&quot;:{\&quot;width\&quot;:923,\&quot;height\&quot;:926}},\&quot;assetName\&quot;:\&quot;iso tech\&quot;,\&quot;content_value\&quot;:\&quot;0be9ca4220431278ec0a920222c6e598844362cc7d9f808754b0c00883044dd2-I\&quot;,\&quot;flipHorizontal\&quot;:false,\&quot;mediaOpacity\&quot;:1,\&quot;aoiLeft\&quot;:0,\&quot;aoiRight\&quot;:923,\&quot;aoiTop\&quot;:208.814453125,\&quot;aoiBottom\&quot;:717.185546875,\&quot;scale\&quot;:1.3867822318526544,\&quot;position\&quot;:\&quot;background\&quot;,\&quot;version\&quot;:1,\&quot;assetWidth\&quot;:923,\&quot;assetHeight\&quot;:926,\&quot;isDefaultTransform\&quot;:false},\&quot;backdropStyle\&quot;:\&quot;none\&quot;,\&quot;textPosition\&quot;:\&quot;top_left\&quot;,\&quot;presenters\&quot;:{\&quot;textStyle\&quot;:\&quot;transparent_dark_box\&quot;,\&quot;items\&quot;:[{\&quot;title\&quot;:\&quot;\&quot;,\&quot;id\&quot;:\&quot;f8a8408b-03e9-4081-aa62-9d3ab7b0e1ff\&quot;,\&quot;text\&quot;:{\&quot;blocks\&quot;:[{\&quot;id\&quot;:\&quot;c4824811-83a8-406b-91ec-005ef14ce6a2\&quot;,\&quot;html\&quot;:\&quot;\&quot;,\&quot;type\&quot;:\&quot;text\&quot;,\&quot;textStyle\&quot;:\&quot;title\&quot;,\&quot;indent\&quot;:0,\&quot;blockBounds\&quot;:{\&quot;left\&quot;:0,\&quot;top\&quot;:-4.734375,\&quot;width\&quot;:121,\&quot;height\&quot;:22.90625},\&quot;textStyles\&quot;:{\&quot;fontFamily\&quot;:\&quot;satoshi\&quot;,\&quot;baseFontSize\&quot;:20,\&quot;fontColor\&quot;:\&quot;primary\&quot;,\&quot;bulletScale\&quot;:1,\&quot;bulletSpacing\&quot;:2.5,\&quot;bulletIndent\&quot;:50,\&quot;fontScaling\&quot;:100,\&quot;fontWeight\&quot;:900,\&quot;letterSpacing\&quot;:\&quot;-0.06em\&quot;,\&quot;lineHeight\&quot;:1.1455999755859376,\&quot;textTransform\&quot;:\&quot;none\&quot;,\&quot;spaceBelow\&quot;:0,\&quot;spaceAbove\&quot;:0,\&quot;blockSpacing\&quot;:20,\&quot;boldStyles\&quot;:{\&quot;fontColor\&quot;:\&quot;slide\&quot;},\&quot;maxLines\&quot;:2,\&quot;evenBreak\&quot;:false,\&quot;listDecorationStyle\&quot;:\&quot;theme\&quot;,\&quot;allowFancyNumberedDecorations\&quot;:false,\&quot;hasEmphasized\&quot;:false,\&quot;blockInset\&quot;:0,\&quot;isRTL\&quot;:false,\&quot;fontScale\&quot;:1,\&quot;fontSize\&quot;:20,\&quot;textAlign\&quot;:\&quot;left\&quot;,\&quot;color\&quot;:\&quot;rgb(255, 255, 255)\&quot;,\&quot;emphasizedColor\&quot;:\&quot;rgb(0, 159, 162)\&quot;,\&quot;hyperlinkColor\&quot;:\&quot;rgb(0, 159, 162)\&quot;},\&quot;blockMargin\&quot;:{\&quot;top\&quot;:-4.73600006103516,\&quot;bottom\&quot;:-3.8559997558593757,\&quot;left\&quot;:0,\&quot;right\&quot;:0},\&quot;topSpace\&quot;:4.73600006103516,\&quot;bottomSpace\&quot;:3.8559997558593757}]}}],\&quot;collectionColor\&quot;:\&quot;theme\&quot;},\&quot;showPresenters\&quot;:true,\&quot;decoration\&quot;:\&quot;none\&quot;,\&quot;shadow\&quot;:{\&quot;x\&quot;:0,\&quot;y\&quot;:0,\&quot;blur\&quot;:10,\&quot;color\&quot;:\&quot;black\&quot;,\&quot;opacity\&quot;:0.4},\&quot;userWidth\&quot;:604.8882501130417,\&quot;backdropPadding\&quot;:40},\&quot;callouts\&quot;:{\&quot;elements\&quot;:[],\&quot;collectionColor\&quot;:\&quot;theme\&quot;,\&quot;snapToGrid\&quot;:false,\&quot;connections\&quot;:{\&quot;items\&quot;:[],\&quot;collectionColor\&quot;:\&quot;theme\&quot;}}}],\&quot;animations\&quot;:{},\&quot;template_id\&quot;:\&quot;title\&quot;,\&quot;migrationVersion\&quot;:10.03,\&quot;version\&quot;:10}&quot;},&quot;colors&quot;:{&quot;accent1&quot;:&quot;rgba(1,160,200,1)&quot;,&quot;accent2&quot;:&quot;rgba(96,130,230,1)&quot;,&quot;accent3&quot;:&quot;rgba(135,108,215,1)&quot;,&quot;accent4&quot;:&quot;rgba(226,90,128,1)&quot;,&quot;accent5&quot;:&quot;rgba(218,70,68,1)&quot;,&quot;accent6&quot;:&quot;rgba(217,92,58,1)&quot;,&quot;accent7&quot;:&quot;rgba(217,122,1,1)&quot;,&quot;accent8&quot;:&quot;rgba(218,176,59,1)&quot;,&quot;background_accent&quot;:&quot;rgba(17,17,17,1)&quot;,&quot;background_dark&quot;:&quot;rgba(0,0,0,1)&quot;,&quot;background_light&quot;:&quot;#ffffff&quot;,&quot;chart1&quot;:&quot;rgba(0,159,162,1)&quot;,&quot;chart2&quot;:&quot;rgba(218,176,59,1)&quot;,&quot;chart3&quot;:&quot;rgba(1,160,200,1)&quot;,&quot;chart4&quot;:&quot;rgba(217,122,1,1)&quot;,&quot;chart5&quot;:&quot;rgba(96,130,230,1)&quot;,&quot;chart6&quot;:&quot;rgba(217,92,58,1)&quot;,&quot;chart7&quot;:&quot;rgba(135,108,215,1)&quot;,&quot;hart8&quot;:&quot;rgba(226,90,128,1)&quot;,&quot;chart9&quot;:&quot;rgba(218,70,68,1)&quot;,&quot;hyperlink&quot;:&quot;rgba(0,159,162,1)&quot;,&quot;egative&quot;:&quot;rgba(218,70,68,1)&quot;,&quot;positive&quot;:&quot;rgba(0,159,162,1)&quot;,&quot;primary_dark&quot;:&quot;rgba(51,51,51,1)&quot;,&quot;primary_light&quot;:&quot;rgba(255,255,255,1)&quot;,&quot;secondary_dark&quot;:&quot;rgba(0,0,0,0.65)&quot;,&quot;secondary_light&quot;:&quot;rgba(255,255,255,0.8)&quot;,&quot;theme&quot;:&quot;rgba(0,159,162,1)&quot;},&quot;imageStyle&quot;:&quot;custom&quot;,&quot;imageStylePrompt&quot;:&quot;Clean composition, smooth gradients, crisp geometry, technical details.&quot;,&quot;fontHeaderFontId&quot;:&quot;satoshi&quot;,&quot;fontHeaderWeight&quot;:900,&quot;fontHeaderLetterSpacing&quot;:-0.06,&quot;fontHeaderLineHeight&quot;:1.6,&quot;fontHeaderScaling&quot;:100,&quot;fontHeaderTextTransform&quot;:&quot;auto&quot;,&quot;fontTitleFontId&quot;:&quot;satoshi&quot;,&quot;fontTitleWeight&quot;:900,&quot;fontTitleLetterSpacing&quot;:-0.06,&quot;fontTitleLineHeight&quot;:1.6,&quot;fontTitleScaling&quot;:100,&quot;fontTitleTextTransform&quot;:&quot;auto&quot;,&quot;fontBodyFontId&quot;:&quot;dmmono&quot;,&quot;fontBodyWeight&quot;:400,&quot;fontBodyLetterSpacing&quot;:-0.02,&quot;fontBodyLineHeight&quot;:2,&quot;fontBodyScaling&quot;:100,&quot;fontBodyTextTransform&quot;:&quot;auto&quot;,&quot;backgroundGradients&quot;:[{&quot;angle&quot;:0,&quot;colorStyle&quot;:&quot;dark&quot;,&quot;id&quot;:&quot;0f346dc6-d9c2-497b-98ac-3653c1d96164&quot;,&quot;noise&quot;:0,&quot;stops&quot;:[{&quot;color&quot;:&quot;#000000&quot;,&quot;position&quot;:0},{&quot;color&quot;:&quot;#003034&quot;,&quot;position&quot;:100}],&quot;type&quot;:&quot;linear&quot;},{&quot;angle&quot;:0,&quot;colorStyle&quot;:&quot;dark&quot;,&quot;id&quot;:&quot;7e6541ed-4b75-4b08-871f-e798d4102f7a&quot;,&quot;noise&quot;:0,&quot;stops&quot;:[{&quot;color&quot;:&quot;#000000&quot;,&quot;position&quot;:0},{&quot;color&quot;:&quot;#4D0F30&quot;,&quot;position&quot;:100}],&quot;type&quot;:&quot;linear&quot;}],&quot;collectionColors&quot;:[{&quot;colors&quot;:[&quot;theme&quot;,&quot;accent1&quot;,&quot;accent2&quot;,&quot;accent3&quot;,&quot;accent4&quot;,&quot;accent5&quot;],&quot;endColor&quot;:&quot;accent3&quot;,&quot;id&quot;:&quot;colorful&quot;,&quot;startColor&quot;:&quot;theme&quot;,&quot;type&quot;:&quot;gradient&quot;},{&quot;colors&quot;:[&quot;theme&quot;,&quot;accent1&quot;,&quot;accent2&quot;,&quot;accent3&quot;,&quot;accent4&quot;,&quot;accent5&quot;,&quot;accent6&quot;,&quot;accent7&quot;,&quot;accent8&quot;],&quot;endColor&quot;:&quot;accent1&quot;,&quot;id&quot;:&quot;98c382d2-a9f2-405d-b20b-03c6e6663f62&quot;,&quot;startColor&quot;:&quot;accent3&quot;,&quot;type&quot;:&quot;gradient&quot;},{&quot;colors&quot;:[&quot;theme&quot;,&quot;accent1&quot;,&quot;accent2&quot;,&quot;accent3&quot;,&quot;accent4&quot;,&quot;accent5&quot;,&quot;accent6&quot;,&quot;accent7&quot;,&quot;accent8&quot;],&quot;endColor&quot;:&quot;accent1&quot;,&quot;id&quot;:&quot;c56481c7-052b-4281-9927-a47eba21b9e8&quot;,&quot;startColor&quot;:&quot;theme&quot;,&quot;type&quot;:&quot;sequence&quot;}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1" width="350" row="8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F1EE8FB-DA67-4F3A-A196-E04D2ED17500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5D5DADC-0A09-4451-9200-13327C9E1F6E}">
  <we:reference id="WA200003964" version="1.0.0.0" store="en-US" storeType="omex"/>
  <we:alternateReferences>
    <we:reference id="WA200003964" version="1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1352</Words>
  <Application>Microsoft Macintosh PowerPoint</Application>
  <PresentationFormat>Panoramiczny</PresentationFormat>
  <Paragraphs>197</Paragraphs>
  <Slides>30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8" baseType="lpstr">
      <vt:lpstr>Arial Unicode MS</vt:lpstr>
      <vt:lpstr>-webkit-standard</vt:lpstr>
      <vt:lpstr>Aptos</vt:lpstr>
      <vt:lpstr>Arial</vt:lpstr>
      <vt:lpstr>Arial Rounded MT Bold</vt:lpstr>
      <vt:lpstr>Bookman Old Style</vt:lpstr>
      <vt:lpstr>Rockwell</vt:lpstr>
      <vt:lpstr>Damask</vt:lpstr>
      <vt:lpstr>PROGRAMOWANIE  FUNKCYJNE NA PODSTAWIE JĘZYKA PYTHON</vt:lpstr>
      <vt:lpstr>SPIS TREŚCI</vt:lpstr>
      <vt:lpstr>WPROWADZENIE</vt:lpstr>
      <vt:lpstr>CZYM JEST PROGRAMOWANIE FUNKCYJNE?</vt:lpstr>
      <vt:lpstr>PARADYGMATY Imperatywnie vs Deklaratywnie  </vt:lpstr>
      <vt:lpstr>PORÓWNANIE</vt:lpstr>
      <vt:lpstr>Czyste funkcje i Niemutowalność</vt:lpstr>
      <vt:lpstr>Brudne funkcje</vt:lpstr>
      <vt:lpstr>CZYSTE funkcje</vt:lpstr>
      <vt:lpstr>IMMUTABILITY – Niemutowalność danych</vt:lpstr>
      <vt:lpstr>Funkcje jako pełnoprawne wartości</vt:lpstr>
      <vt:lpstr>1. Przykład: przypisanie do zmiennej</vt:lpstr>
      <vt:lpstr>2. PRZYKŁAD: Przekazanie jako ARGUMENT</vt:lpstr>
      <vt:lpstr>3. Zwrócenie z innej funkcji</vt:lpstr>
      <vt:lpstr>Metody Wyższego Rzędu i Wyrażenia Lambda</vt:lpstr>
      <vt:lpstr>Prezentacja programu PowerPoint</vt:lpstr>
      <vt:lpstr>DLACZEGO LAMBDA JEST KLUCZOWA?</vt:lpstr>
      <vt:lpstr>MAP()</vt:lpstr>
      <vt:lpstr>FILTER()</vt:lpstr>
      <vt:lpstr>REDUCE()</vt:lpstr>
      <vt:lpstr>PRZYKŁAD Z KODU</vt:lpstr>
      <vt:lpstr>Rekurencja i Chaining</vt:lpstr>
      <vt:lpstr>REKURENCJA</vt:lpstr>
      <vt:lpstr>Przykład (CZYSTEJ) rekurencji w python</vt:lpstr>
      <vt:lpstr>CHAINING</vt:lpstr>
      <vt:lpstr>PRZYKŁAD Łańcuchowania </vt:lpstr>
      <vt:lpstr>Bibliografia</vt:lpstr>
      <vt:lpstr>Podsumowanie</vt:lpstr>
      <vt:lpstr>Czas na Quiz!   </vt:lpstr>
      <vt:lpstr>Część Praktyczna – Warsztaty na GitHubie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Arkadiusz Kępa</dc:creator>
  <cp:lastModifiedBy>Arkadiusz Kępa</cp:lastModifiedBy>
  <cp:revision>2</cp:revision>
  <dcterms:created xsi:type="dcterms:W3CDTF">2026-03-14T13:47:23Z</dcterms:created>
  <dcterms:modified xsi:type="dcterms:W3CDTF">2026-03-17T14:25:07Z</dcterms:modified>
</cp:coreProperties>
</file>